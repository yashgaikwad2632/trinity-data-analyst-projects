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52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rcRect b="3795"/>
          <a:stretch>
            <a:fillRect/>
          </a:stretch>
        </p:blipFill>
        <p:spPr>
          <a:xfrm>
            <a:off x="0" y="260350"/>
            <a:ext cx="12192000" cy="659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620713"/>
            <a:ext cx="10943167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1843088"/>
            <a:ext cx="10949517" cy="98107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1130" y="302260"/>
            <a:ext cx="9144000" cy="1600200"/>
          </a:xfrm>
        </p:spPr>
        <p:txBody>
          <a:bodyPr/>
          <a:lstStyle/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Name:-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Yash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Rajendra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Gaikwad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Analytics Trainee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3:- </a:t>
            </a:r>
            <a:r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Operation Analytics and Investigating Metric Spike</a:t>
            </a:r>
            <a:b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Software Used:- My SQL Workbench 8.0 CE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9985" y="2115185"/>
            <a:ext cx="10017760" cy="4328160"/>
          </a:xfrm>
        </p:spPr>
        <p:txBody>
          <a:bodyPr/>
          <a:lstStyle/>
          <a:p>
            <a:pPr marL="342900" indent="-342900">
              <a:buFont typeface="Wingdings" panose="05000000000000000000" charset="0"/>
              <a:buChar char="v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Case Study 1 : Job Data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endParaRPr lang="en-US" sz="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lphaUcPeriod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Number of jobs reviewed:-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Amount of jobs reviewed over time.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Your task: Calculate the number of jobs reviewed per hour per day for November 2020?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B. Throughput:-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It is the no. of events happening per second.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Your task: Let’s say the above metric is called throughput. Calculate 7 day rolling average of throughput?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For throughput, do you prefer daily metric or 7-day rolling and why?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C. Percentage share of each language:-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Share of each language for different contents.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percentage share of each language in the last 30 days?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D. Duplicate rows:-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Rows that have the same value present in them.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Let’s say you see some duplicate rows in the data. How will you display duplicates from table?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charset="0"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display duplicates from the table?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5995" y="671830"/>
            <a:ext cx="9994900" cy="5455920"/>
          </a:xfrm>
        </p:spPr>
        <p:txBody>
          <a:bodyPr/>
          <a:p>
            <a:pPr>
              <a:buFont typeface="Wingdings" panose="05000000000000000000" charset="0"/>
              <a:buChar char="v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Case Study 2: Investigating metric spike 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A. User Engagement: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To measure the activeness of a user. Measuring if the user finds quality in a                                                             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product/service.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weekly user engagement?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B. User Growth: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Amount of users growing over time for a product.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user growth for product?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C. Weekly Retention: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Users getting retained weekly after signing-up for a product.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weekly retention of users-sign up cohort?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D. Weekly Engagement: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the activeness of a user. Measuring if the user finds quality in a product/service weekly.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weekly engagement per device?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E. Email Engagement: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Users engaging with the email service.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Your task: Calculate the email engagement metrics?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Case Study 1 : Job Data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2795"/>
            <a:ext cx="10972800" cy="5354955"/>
          </a:xfrm>
        </p:spPr>
        <p:txBody>
          <a:bodyPr/>
          <a:p>
            <a:pPr marL="342900" indent="-342900">
              <a:buFont typeface="+mj-lt"/>
              <a:buAutoNum type="alphaUcPeriod"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Number of jobs reviewed:-</a:t>
            </a:r>
            <a:r>
              <a:rPr lang="en-US" sz="18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Amount of jobs reviewed over time.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+mj-lt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Your task:- Calculate the number of jobs reviewed per hour per day for November 2020?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Font typeface="+mj-lt"/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/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Process:-</a:t>
            </a:r>
            <a:endParaRPr lang="en-US" sz="18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will use the data from job_id columns of the job_data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divide the total count of job_id (distinct and non-distinct) by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    (30 days * 24 hours)for finding the number of jobs reviewed per day.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&amp; Result:-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jobs reviewed per hours per day for november 2020 is </a:t>
            </a:r>
            <a:r>
              <a:rPr lang="en-US" sz="1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</a:t>
            </a:r>
            <a:r>
              <a:rPr lang="en-US" sz="1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3" descr="Task 1 A"/>
          <p:cNvPicPr>
            <a:picLocks noChangeAspect="1"/>
          </p:cNvPicPr>
          <p:nvPr/>
        </p:nvPicPr>
        <p:blipFill>
          <a:blip r:embed="rId1"/>
          <a:srcRect l="16147" t="30973" r="38276" b="40895"/>
          <a:stretch>
            <a:fillRect/>
          </a:stretch>
        </p:blipFill>
        <p:spPr>
          <a:xfrm>
            <a:off x="3004185" y="3900170"/>
            <a:ext cx="5977890" cy="222758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/>
          <p:nvPr>
            <p:ph sz="half" idx="1"/>
          </p:nvPr>
        </p:nvSpPr>
        <p:spPr>
          <a:xfrm>
            <a:off x="843915" y="647065"/>
            <a:ext cx="10278745" cy="548068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 Throughput:-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It is the no. of events happening per second.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Your task:- Let’s say the above metric is called throughput. Calculate 7 day rolling average of throughput?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For throughput, do you prefer daily metric or 7-day rolling and why?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 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For calculating the throughput we will be using the 7-day rolling because 7-day rolling gives us the average for all the days right from day 1 to day 7 Whereas daily metric gives us average for only that particular day itself.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will be first taking the count of job_id(distinct and non-distinct) and ordering them w.r.t ds (date of interview).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by using the ROW function we will be considering the rows between 6 preceding rows and the current row.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be taking the average of the jobs_reviewed.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Content Placeholder 7" descr="Task 1 B"/>
          <p:cNvPicPr>
            <a:picLocks noChangeAspect="1"/>
          </p:cNvPicPr>
          <p:nvPr>
            <p:ph sz="half" idx="2"/>
          </p:nvPr>
        </p:nvPicPr>
        <p:blipFill>
          <a:blip r:embed="rId1"/>
          <a:srcRect l="16399" t="25241" r="46031" b="20785"/>
          <a:stretch>
            <a:fillRect/>
          </a:stretch>
        </p:blipFill>
        <p:spPr>
          <a:xfrm>
            <a:off x="2685415" y="1510665"/>
            <a:ext cx="6821170" cy="38366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 Box 8"/>
          <p:cNvSpPr txBox="1"/>
          <p:nvPr/>
        </p:nvSpPr>
        <p:spPr>
          <a:xfrm>
            <a:off x="966470" y="690245"/>
            <a:ext cx="8806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Query &amp; Result:-</a:t>
            </a:r>
            <a:r>
              <a:rPr lang="en-US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09600" y="852170"/>
            <a:ext cx="10972165" cy="527558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C. Percentage share of each language:-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Share of each language for different contents.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Your task: Calculate the percentage share of each language in the last 30 days?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select the job_id, language and we use Count function for 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name it as total_of_each_language.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divide the total number of languages (distinct/non-distinct) by the total number of rows presents in the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Name it as percentage_share_of_each_language.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do the grouping based on the languages.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6" name="Content Placeholder 5" descr="Task 1 C1"/>
          <p:cNvPicPr>
            <a:picLocks noChangeAspect="1"/>
          </p:cNvPicPr>
          <p:nvPr>
            <p:ph sz="half" idx="1"/>
          </p:nvPr>
        </p:nvPicPr>
        <p:blipFill>
          <a:blip r:embed="rId2"/>
          <a:srcRect l="17196" t="46994" r="42017" b="15533"/>
          <a:stretch>
            <a:fillRect/>
          </a:stretch>
        </p:blipFill>
        <p:spPr>
          <a:xfrm>
            <a:off x="609600" y="1603375"/>
            <a:ext cx="5384800" cy="3651250"/>
          </a:xfrm>
          <a:prstGeom prst="rect">
            <a:avLst/>
          </a:prstGeom>
        </p:spPr>
      </p:pic>
      <p:pic>
        <p:nvPicPr>
          <p:cNvPr id="7" name="Content Placeholder 6" descr="Task 1 C2"/>
          <p:cNvPicPr>
            <a:picLocks noChangeAspect="1"/>
          </p:cNvPicPr>
          <p:nvPr>
            <p:ph sz="half" idx="2"/>
          </p:nvPr>
        </p:nvPicPr>
        <p:blipFill>
          <a:blip r:embed="rId1"/>
          <a:srcRect l="41026" t="39892" r="29214" b="45980"/>
          <a:stretch>
            <a:fillRect/>
          </a:stretch>
        </p:blipFill>
        <p:spPr>
          <a:xfrm>
            <a:off x="6323330" y="2358390"/>
            <a:ext cx="5076825" cy="21412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761365" y="570865"/>
            <a:ext cx="10315575" cy="778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Percentage share of each language in 30 days is given in the table. </a:t>
            </a:r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955040"/>
            <a:ext cx="10972800" cy="5172710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D. Duplicate rows:-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Rows that have the same value present in them.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Let’s say you see some duplicate rows in the data. How will you display duplicates from table?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display duplicates from the table?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decide in which do we need to find the duplicate row values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After deciding the column(parameter) we will use the ROW_NUMBER function to find the row numbers having the same value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portioning the ROW_NUMBER function over the column (parameter) that we decided i.e. job_id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using the WHERE function we will find the row_num having value greater than 1 i.e. row_num &gt; 1 based on the occurrence of the job_id in the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1 D"/>
          <p:cNvPicPr>
            <a:picLocks noChangeAspect="1"/>
          </p:cNvPicPr>
          <p:nvPr>
            <p:ph idx="1"/>
          </p:nvPr>
        </p:nvPicPr>
        <p:blipFill>
          <a:blip r:embed="rId1"/>
          <a:srcRect l="16067" t="25090" r="48007" b="33487"/>
          <a:stretch>
            <a:fillRect/>
          </a:stretch>
        </p:blipFill>
        <p:spPr>
          <a:xfrm>
            <a:off x="2725420" y="1299210"/>
            <a:ext cx="5838825" cy="37852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893445" y="292735"/>
            <a:ext cx="9613265" cy="5734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two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duplicate rows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that have the same value present in them.</a:t>
            </a:r>
            <a:r>
              <a:rPr lang="en-US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572135"/>
            <a:ext cx="10972800" cy="582613"/>
          </a:xfrm>
        </p:spPr>
        <p:txBody>
          <a:bodyPr/>
          <a:p>
            <a:pPr algn="ctr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Case Study 2: Investigating metric spike 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489075"/>
            <a:ext cx="10972800" cy="4638675"/>
          </a:xfrm>
        </p:spPr>
        <p:txBody>
          <a:bodyPr/>
          <a:p>
            <a:pPr marL="0" indent="0"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A. User Engagement: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measure the activeness of a user. Measuring if the user finds quality in a                                                             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product/service.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                                                   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Calculate the weekly user engagement?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will extract the week from the occurred_at column of the events table using the EXTRACT function and WEEK function.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be counting the number of distinct user_id from the events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use the GROUP BY function to group the output w.r.t week from occurred_at.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2 A"/>
          <p:cNvPicPr>
            <a:picLocks noChangeAspect="1"/>
          </p:cNvPicPr>
          <p:nvPr>
            <p:ph sz="half" idx="1"/>
          </p:nvPr>
        </p:nvPicPr>
        <p:blipFill>
          <a:blip r:embed="rId1"/>
          <a:srcRect l="16399" t="33667" r="52545" b="39410"/>
          <a:stretch>
            <a:fillRect/>
          </a:stretch>
        </p:blipFill>
        <p:spPr>
          <a:xfrm>
            <a:off x="609600" y="2137410"/>
            <a:ext cx="5384800" cy="3027045"/>
          </a:xfrm>
          <a:prstGeom prst="rect">
            <a:avLst/>
          </a:prstGeom>
        </p:spPr>
      </p:pic>
      <p:pic>
        <p:nvPicPr>
          <p:cNvPr id="8" name="Content Placeholder 7" descr="Task 2 A2"/>
          <p:cNvPicPr>
            <a:picLocks noChangeAspect="1"/>
          </p:cNvPicPr>
          <p:nvPr>
            <p:ph sz="half" idx="2"/>
          </p:nvPr>
        </p:nvPicPr>
        <p:blipFill>
          <a:blip r:embed="rId2"/>
          <a:srcRect l="2064" t="23604" r="81486" b="26616"/>
          <a:stretch>
            <a:fillRect/>
          </a:stretch>
        </p:blipFill>
        <p:spPr>
          <a:xfrm>
            <a:off x="7414260" y="1483995"/>
            <a:ext cx="2445385" cy="415988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864235" y="424180"/>
            <a:ext cx="10198100" cy="661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weekly user engagement is given in the table.</a:t>
            </a:r>
            <a:r>
              <a:rPr lang="en-US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1136650" y="851535"/>
            <a:ext cx="9473565" cy="4749800"/>
          </a:xfrm>
        </p:spPr>
        <p:txBody>
          <a:bodyPr/>
          <a:p>
            <a:pPr marL="0" indent="0"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B. User Growth:-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Amount of users growing over time for a product.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Calculate the user growth for product?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buNone/>
            </a:pP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 we will the extract the year and week for the occurred_at column of the users table using the extract, year and week functions.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group the extracted week and year on the basis of year and week number.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ordered the result on the basis of year and week number.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find the cumm_active_users using the SUM, OVER and ROW function between unbounded preceding and current row.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2 B1"/>
          <p:cNvPicPr>
            <a:picLocks noChangeAspect="1"/>
          </p:cNvPicPr>
          <p:nvPr>
            <p:ph sz="half" idx="1"/>
          </p:nvPr>
        </p:nvPicPr>
        <p:blipFill>
          <a:blip r:embed="rId1"/>
          <a:srcRect l="20045" t="27166" r="43384" b="13300"/>
          <a:stretch>
            <a:fillRect/>
          </a:stretch>
        </p:blipFill>
        <p:spPr>
          <a:xfrm>
            <a:off x="609600" y="903605"/>
            <a:ext cx="6189980" cy="5037455"/>
          </a:xfrm>
          <a:prstGeom prst="rect">
            <a:avLst/>
          </a:prstGeom>
        </p:spPr>
      </p:pic>
      <p:pic>
        <p:nvPicPr>
          <p:cNvPr id="7" name="Content Placeholder 6" descr="Task 2 B2"/>
          <p:cNvPicPr>
            <a:picLocks noChangeAspect="1"/>
          </p:cNvPicPr>
          <p:nvPr>
            <p:ph sz="half" idx="2"/>
          </p:nvPr>
        </p:nvPicPr>
        <p:blipFill>
          <a:blip r:embed="rId2"/>
          <a:srcRect l="1478" t="23048" r="72771" b="13285"/>
          <a:stretch>
            <a:fillRect/>
          </a:stretch>
        </p:blipFill>
        <p:spPr>
          <a:xfrm>
            <a:off x="7400290" y="850900"/>
            <a:ext cx="3662045" cy="509016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600075" y="160655"/>
            <a:ext cx="10346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Hence,There are total </a:t>
            </a:r>
            <a:r>
              <a:rPr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9381 active users. The table shows some active users.</a:t>
            </a:r>
            <a:r>
              <a:rPr lang="en-US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720090"/>
            <a:ext cx="10841990" cy="5407660"/>
          </a:xfrm>
        </p:spPr>
        <p:txBody>
          <a:bodyPr/>
          <a:p>
            <a:pPr marL="0" indent="0"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C. Weekly Retention:-</a:t>
            </a:r>
            <a:r>
              <a:rPr lang="en-US" sz="1800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Users getting retained weekly after signing-up for a product.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Calculate the weekly retention of users-sign up cohort?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can calculate the weekly retention of users-sign up cohort by two means i.e. either by specifying the week number or for the entire column of occurred_at of the events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 we have not given specific weeks so we calculate for the entire column of occurred_at of event table.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Firstly we will extract the week from occurred_at column using the extract,weekfunctions.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Then, we will select out those rows in which event_type = 'signup_flow’ and event_name = 'complete_signup’.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If finding for a spectifc week we will spectify the week number using the extract function.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using the left join we will join the two tables on the basis of user_id where event_type = 'engagement’ 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use the Group By function to group the output table on the basis of user_id.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use the Order By function to order the result table on the basis of user_id.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2 C"/>
          <p:cNvPicPr>
            <a:picLocks noChangeAspect="1"/>
          </p:cNvPicPr>
          <p:nvPr>
            <p:ph sz="half" idx="1"/>
          </p:nvPr>
        </p:nvPicPr>
        <p:blipFill>
          <a:blip r:embed="rId1"/>
          <a:srcRect l="20385" t="18731" r="30541" b="16628"/>
          <a:stretch>
            <a:fillRect/>
          </a:stretch>
        </p:blipFill>
        <p:spPr>
          <a:xfrm>
            <a:off x="609600" y="1214755"/>
            <a:ext cx="6145530" cy="4681220"/>
          </a:xfrm>
          <a:prstGeom prst="rect">
            <a:avLst/>
          </a:prstGeom>
        </p:spPr>
      </p:pic>
      <p:pic>
        <p:nvPicPr>
          <p:cNvPr id="8" name="Content Placeholder 7" descr="Task 2 C2"/>
          <p:cNvPicPr>
            <a:picLocks noChangeAspect="1"/>
          </p:cNvPicPr>
          <p:nvPr>
            <p:ph sz="half" idx="2"/>
          </p:nvPr>
        </p:nvPicPr>
        <p:blipFill>
          <a:blip r:embed="rId2"/>
          <a:srcRect l="1761" t="23285" r="79847" b="19235"/>
          <a:stretch>
            <a:fillRect/>
          </a:stretch>
        </p:blipFill>
        <p:spPr>
          <a:xfrm>
            <a:off x="8234045" y="1214755"/>
            <a:ext cx="2301240" cy="479044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46760" y="439420"/>
            <a:ext cx="9598660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There are total 4680 users data, I have only mention some of them in the table.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910590"/>
            <a:ext cx="10767695" cy="5217160"/>
          </a:xfrm>
        </p:spPr>
        <p:txBody>
          <a:bodyPr/>
          <a:p>
            <a:pPr marL="0" indent="0"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D. Weekly Engagement:-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To measure the activeness of a user. Measuring if the user finds quality in a product/service weekly.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Calculate the weekly engagement per device?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Firstly we will extract the year_num and week_num from the occurred_at column of the events table using the extract, year and week function.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will select those rows where event_type = 'engagement’ using the WHERE clause.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by using the Group By and Order By function we will group and order the result on the basis of year_num, week_num and device.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2 D"/>
          <p:cNvPicPr>
            <a:picLocks noChangeAspect="1"/>
          </p:cNvPicPr>
          <p:nvPr>
            <p:ph sz="half" idx="1"/>
          </p:nvPr>
        </p:nvPicPr>
        <p:blipFill>
          <a:blip r:embed="rId1"/>
          <a:srcRect l="17325" t="49483" r="55489" b="15744"/>
          <a:stretch>
            <a:fillRect/>
          </a:stretch>
        </p:blipFill>
        <p:spPr>
          <a:xfrm>
            <a:off x="609600" y="1390015"/>
            <a:ext cx="5384800" cy="4229100"/>
          </a:xfrm>
          <a:prstGeom prst="rect">
            <a:avLst/>
          </a:prstGeom>
        </p:spPr>
      </p:pic>
      <p:pic>
        <p:nvPicPr>
          <p:cNvPr id="8" name="Content Placeholder 7" descr="Task 2 D2"/>
          <p:cNvPicPr>
            <a:picLocks noChangeAspect="1"/>
          </p:cNvPicPr>
          <p:nvPr>
            <p:ph sz="half" idx="2"/>
          </p:nvPr>
        </p:nvPicPr>
        <p:blipFill>
          <a:blip r:embed="rId2"/>
          <a:srcRect l="2026" t="23814" r="73376" b="14042"/>
          <a:stretch>
            <a:fillRect/>
          </a:stretch>
        </p:blipFill>
        <p:spPr>
          <a:xfrm>
            <a:off x="7677785" y="1007110"/>
            <a:ext cx="3515995" cy="499427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556260" y="263525"/>
            <a:ext cx="109315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There are total 468 users data, I have only mention some of them in the table.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749935"/>
            <a:ext cx="10972800" cy="5377815"/>
          </a:xfrm>
        </p:spPr>
        <p:txBody>
          <a:bodyPr/>
          <a:p>
            <a:pPr marL="0" indent="0">
              <a:buNone/>
            </a:pPr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E. Email Engagement:-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Users engaging with the email service.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Your task: Calculate the email engagement metrics?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Process:-</a:t>
            </a:r>
            <a:endParaRPr lang="en-US" sz="1800" b="1">
              <a:solidFill>
                <a:srgbClr val="F852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We will first categorize the action on the basis of email_sent, email_openedand email_clicked using the CASE, WHEN, THEN functions.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select the sum of category of email_opened divide by the sum of the category of email_sent and multiply the result by 100.0 and name is as email_opening_rate.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select the sum of category of email_clicked divide by the sum of the category of email_sent and multiply the result by 100.0 and name is as email_clicking_rate.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use comand email_sent = ('sent_weekly_digest','sent_reengagement_email’).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Then we use command email_opened = 'email_open’.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Lastly we use command email_clicked = 'email_clickthrough'.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Content Placeholder 5" descr="Task 2 E1"/>
          <p:cNvPicPr>
            <a:picLocks noChangeAspect="1"/>
          </p:cNvPicPr>
          <p:nvPr>
            <p:ph sz="half" idx="1"/>
          </p:nvPr>
        </p:nvPicPr>
        <p:blipFill>
          <a:blip r:embed="rId1"/>
          <a:srcRect l="17393" t="25385" r="37195" b="15744"/>
          <a:stretch>
            <a:fillRect/>
          </a:stretch>
        </p:blipFill>
        <p:spPr>
          <a:xfrm>
            <a:off x="346075" y="1138555"/>
            <a:ext cx="7625715" cy="4916805"/>
          </a:xfrm>
          <a:prstGeom prst="rect">
            <a:avLst/>
          </a:prstGeom>
        </p:spPr>
      </p:pic>
      <p:pic>
        <p:nvPicPr>
          <p:cNvPr id="8" name="Content Placeholder 7" descr="Task 2 E2"/>
          <p:cNvPicPr>
            <a:picLocks noChangeAspect="1"/>
          </p:cNvPicPr>
          <p:nvPr>
            <p:ph sz="half" idx="2"/>
          </p:nvPr>
        </p:nvPicPr>
        <p:blipFill>
          <a:blip r:embed="rId2"/>
          <a:srcRect l="15511" t="67820" r="65422" b="24148"/>
          <a:stretch>
            <a:fillRect/>
          </a:stretch>
        </p:blipFill>
        <p:spPr>
          <a:xfrm>
            <a:off x="8512810" y="2212340"/>
            <a:ext cx="3326765" cy="1436370"/>
          </a:xfrm>
          <a:prstGeom prst="rect">
            <a:avLst/>
          </a:prstGeom>
        </p:spPr>
      </p:pic>
      <p:sp>
        <p:nvSpPr>
          <p:cNvPr id="11" name="Text Box 10"/>
          <p:cNvSpPr txBox="1"/>
          <p:nvPr/>
        </p:nvSpPr>
        <p:spPr>
          <a:xfrm>
            <a:off x="365760" y="379730"/>
            <a:ext cx="11372850" cy="759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F85208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Query &amp; Result:-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Hence, The total email opening rate is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33.58%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and total email clicking rate is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14.78%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1850" y="1710055"/>
            <a:ext cx="10515600" cy="2060575"/>
          </a:xfrm>
        </p:spPr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range Waves">
  <a:themeElements>
    <a:clrScheme name="Orang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C73109"/>
      </a:accent1>
      <a:accent2>
        <a:srgbClr val="FF5050"/>
      </a:accent2>
      <a:accent3>
        <a:srgbClr val="FFFFFF"/>
      </a:accent3>
      <a:accent4>
        <a:srgbClr val="000000"/>
      </a:accent4>
      <a:accent5>
        <a:srgbClr val="E0ADAA"/>
      </a:accent5>
      <a:accent6>
        <a:srgbClr val="E74848"/>
      </a:accent6>
      <a:hlink>
        <a:srgbClr val="4D4D4D"/>
      </a:hlink>
      <a:folHlink>
        <a:srgbClr val="777777"/>
      </a:folHlink>
    </a:clrScheme>
    <a:fontScheme name="Orang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Orang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rang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rang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C73109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E0ADAA"/>
        </a:accent5>
        <a:accent6>
          <a:srgbClr val="E74848"/>
        </a:accent6>
        <a:hlink>
          <a:srgbClr val="4D4D4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8489</Words>
  <Application>WPS Presentation</Application>
  <PresentationFormat>Widescreen</PresentationFormat>
  <Paragraphs>148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</vt:lpstr>
      <vt:lpstr>Segoe Script</vt:lpstr>
      <vt:lpstr>Microsoft Tai Le</vt:lpstr>
      <vt:lpstr>Agency FB</vt:lpstr>
      <vt:lpstr>Algerian</vt:lpstr>
      <vt:lpstr>Arial Narrow</vt:lpstr>
      <vt:lpstr>Arial Black</vt:lpstr>
      <vt:lpstr>1_Orange Waves</vt:lpstr>
      <vt:lpstr>Name:- Yash Rajendra Gaikwad Data Analytics Trainee Project 3:- Operation Analytics and Investigating Metric Spike Software Used:- My SQL Workbench 8.0 CE</vt:lpstr>
      <vt:lpstr>PowerPoint 演示文稿</vt:lpstr>
      <vt:lpstr>Case Study 1 : Job Data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Name:- Yash Rajendra Gaikwad Data Analytics Trainee Project 3:- Operation Analytics and Investigating Metric Spike Software Used:- My SQL Workbench 8.0 CE</dc:title>
  <dc:creator>Yash Gaikwad</dc:creator>
  <cp:lastModifiedBy>91830</cp:lastModifiedBy>
  <cp:revision>13</cp:revision>
  <dcterms:created xsi:type="dcterms:W3CDTF">2024-11-22T07:36:00Z</dcterms:created>
  <dcterms:modified xsi:type="dcterms:W3CDTF">2024-11-24T11:39:58Z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298E53991F3042239A5B6ADF0669473E_12</vt:lpwstr>
  </property>
  <property fmtid="{D5CDD505-2E9C-101B-9397-08002B2CF9AE}" pid="3" name="KSOProductBuildVer">
    <vt:lpwstr>1033-12.2.0.18607</vt:lpwstr>
  </property>
</Properties>
</file>