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75" r:id="rId5"/>
    <p:sldId id="260" r:id="rId6"/>
    <p:sldId id="261" r:id="rId7"/>
    <p:sldId id="264" r:id="rId8"/>
    <p:sldId id="265" r:id="rId9"/>
    <p:sldId id="267" r:id="rId10"/>
    <p:sldId id="268" r:id="rId11"/>
    <p:sldId id="269" r:id="rId12"/>
    <p:sldId id="270" r:id="rId13"/>
    <p:sldId id="271" r:id="rId14"/>
    <p:sldId id="273" r:id="rId15"/>
    <p:sldId id="274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52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rcRect b="3795"/>
          <a:stretch>
            <a:fillRect/>
          </a:stretch>
        </p:blipFill>
        <p:spPr>
          <a:xfrm>
            <a:off x="0" y="260350"/>
            <a:ext cx="12192000" cy="6597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620713"/>
            <a:ext cx="10943167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1843088"/>
            <a:ext cx="10949517" cy="981075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4205" y="152400"/>
            <a:ext cx="10942955" cy="1559560"/>
          </a:xfrm>
        </p:spPr>
        <p:txBody>
          <a:bodyPr/>
          <a:lstStyle/>
          <a:p>
            <a:pPr algn="ctr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Name:-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Yash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Rajendra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Gaikwad</a:t>
            </a:r>
            <a:b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 Analytics Trainee</a:t>
            </a:r>
            <a:b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Project 4:- Hiring Process Analytics.</a:t>
            </a:r>
            <a:b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Software Used:- Microsoft Excel.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8825" y="1901825"/>
            <a:ext cx="10553700" cy="4732020"/>
          </a:xfrm>
        </p:spPr>
        <p:txBody>
          <a:bodyPr/>
          <a:lstStyle/>
          <a:p>
            <a:pPr marL="285750" indent="-285750" algn="l">
              <a:buFont typeface="Wingdings" panose="05000000000000000000" charset="0"/>
              <a:buChar char="v"/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Analysis done on following Points:-</a:t>
            </a:r>
            <a:endParaRPr 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A. Hiring:-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Process of  intaking of people into an organization for different kinds of positions.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 Your Task:- 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How manny males and femails are Hired ?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B. Average Salary:- 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Adding all the salaries for a selected group of employees and then dividing the sumby the  number of employees in the group.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Your Task:- 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average salary offeredin this company ?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C. Class Intervals:- 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class interval is the difference between upper class limit and the lower class limit.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Your Task:- 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Draw the class intervalsnfor salary in the company ?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D. Charts and Plots:-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This is one of the best part of the analysis to visualize the data.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Your Task:-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Draw Pie Chart/Bar Graph (or any other graph) to show proportion of people working different department? 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E. Charts:-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Use different charts and graphs to perform the task representing the data.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Your Task:- 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Represent different post tiers using charts/graph.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1315085"/>
          </a:xfrm>
        </p:spPr>
        <p:txBody>
          <a:bodyPr/>
          <a:p>
            <a:r>
              <a:rPr lang="en-US" sz="2000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A. Hiring:-</a:t>
            </a:r>
            <a:r>
              <a:rPr lang="en-US" sz="2000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Process of  intaking of people into an organization for different kinds of positions.</a:t>
            </a: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</a:t>
            </a:r>
            <a:r>
              <a:rPr lang="en-US" sz="2000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000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Your Task:-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How manny males and females are Hired ?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877695"/>
            <a:ext cx="10572115" cy="4250055"/>
          </a:xfrm>
        </p:spPr>
        <p:txBody>
          <a:bodyPr/>
          <a:p>
            <a:r>
              <a:rPr lang="en-US" sz="1800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Process:-</a:t>
            </a:r>
            <a:endParaRPr lang="en-US" sz="1800" b="1">
              <a:solidFill>
                <a:srgbClr val="F852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b="1">
              <a:solidFill>
                <a:srgbClr val="F852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First, we use the COUNTIFS function to calculate to calculate the number of male and females hired in the company.</a:t>
            </a:r>
            <a:endParaRPr lang="en-US"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the countifs function from formula box OR just type =COUNTIFS(G:G) then specify the criteria1 as Male and criteria2 as Hired.</a:t>
            </a:r>
            <a:endParaRPr lang="en-US"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Repet the countifs function and specify the criteria1 as Female and criteria2 as Hired.</a:t>
            </a:r>
            <a:endParaRPr lang="en-US"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that we use the bar chart to visualize gender and the number of males and females hired.</a:t>
            </a:r>
            <a:endParaRPr lang="en-US"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Content Placeholder 11" descr="A1"/>
          <p:cNvPicPr>
            <a:picLocks noChangeAspect="1"/>
          </p:cNvPicPr>
          <p:nvPr>
            <p:ph idx="1"/>
          </p:nvPr>
        </p:nvPicPr>
        <p:blipFill>
          <a:blip r:embed="rId1"/>
          <a:srcRect l="38983" t="37938" r="22250" b="11645"/>
          <a:stretch>
            <a:fillRect/>
          </a:stretch>
        </p:blipFill>
        <p:spPr>
          <a:xfrm>
            <a:off x="2651760" y="761365"/>
            <a:ext cx="6975475" cy="5114290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512445" y="321945"/>
            <a:ext cx="1948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Result:-</a:t>
            </a:r>
            <a:endParaRPr lang="en-US" b="1">
              <a:solidFill>
                <a:srgbClr val="F852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1388110"/>
          </a:xfrm>
        </p:spPr>
        <p:txBody>
          <a:bodyPr/>
          <a:p>
            <a:r>
              <a:rPr lang="en-US" sz="2000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B. Average Salary:-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Adding all the salaries for a selected group of employees and then dividing the sumby the  number of employees in the group.</a:t>
            </a: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</a:t>
            </a:r>
            <a:r>
              <a:rPr lang="en-US" sz="2000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Your Task:-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What is the average salary offeredin this company ?</a:t>
            </a:r>
            <a:endParaRPr lang="en-US" sz="2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92935"/>
            <a:ext cx="10972800" cy="4234815"/>
          </a:xfrm>
        </p:spPr>
        <p:txBody>
          <a:bodyPr/>
          <a:p>
            <a:r>
              <a:rPr lang="en-US" sz="1800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:-</a:t>
            </a:r>
            <a:endParaRPr lang="en-US" sz="1800" b="1">
              <a:solidFill>
                <a:srgbClr val="F852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First, we remove the the outliners that i.e. to remove the salaries below 1000 and remove the salaries above 100000.</a:t>
            </a:r>
            <a:endParaRPr lang="en-US"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  we use the formula of Average and select the entire colume of the salary after removing outliners.</a:t>
            </a:r>
            <a:endParaRPr lang="en-US"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Formula Used:- </a:t>
            </a:r>
            <a:endParaRPr lang="en-US" sz="1800" b="1">
              <a:solidFill>
                <a:srgbClr val="F852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</a:t>
            </a:r>
            <a:r>
              <a:rPr lang="en-US" sz="1800">
                <a:solidFill>
                  <a:srgbClr val="F85208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= AVERAGE (G:G) </a:t>
            </a:r>
            <a:endParaRPr lang="en-US" sz="1800">
              <a:solidFill>
                <a:srgbClr val="F85208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>
              <a:solidFill>
                <a:srgbClr val="F852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Result:-</a:t>
            </a:r>
            <a:r>
              <a:rPr lang="en-US" sz="1800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Average salary offered in the company is </a:t>
            </a:r>
            <a:r>
              <a:rPr lang="en-US" sz="1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49983.03223.</a:t>
            </a:r>
            <a:endParaRPr lang="en-US" sz="18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1637665"/>
          </a:xfrm>
        </p:spPr>
        <p:txBody>
          <a:bodyPr/>
          <a:p>
            <a:r>
              <a:rPr lang="en-US" sz="2000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C. Class Intervals:-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class interval is the difference between upper class limit and the lower class</a:t>
            </a: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               limit.</a:t>
            </a: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</a:t>
            </a:r>
            <a:r>
              <a:rPr lang="en-US" sz="2000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000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Your Task:-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Draw the class intervalsnfor salary in the company ?</a:t>
            </a:r>
            <a:endParaRPr lang="en-US" sz="2000"/>
          </a:p>
        </p:txBody>
      </p:sp>
      <p:sp>
        <p:nvSpPr>
          <p:cNvPr id="5" name="Content Placeholder 4"/>
          <p:cNvSpPr/>
          <p:nvPr>
            <p:ph idx="1"/>
          </p:nvPr>
        </p:nvSpPr>
        <p:spPr>
          <a:xfrm>
            <a:off x="609600" y="1915795"/>
            <a:ext cx="10972800" cy="4211955"/>
          </a:xfrm>
        </p:spPr>
        <p:txBody>
          <a:bodyPr/>
          <a:p>
            <a:r>
              <a:rPr lang="en-US" sz="1800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Process:-</a:t>
            </a:r>
            <a:endParaRPr lang="en-US" sz="1800" b="1">
              <a:solidFill>
                <a:srgbClr val="F852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To find the solution of this task first we need to select all the data and use the Pivot Table function.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 pivot table field list box, we place the Status in the Report filter.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 the Row Lables we add the Department and in the Values we add offered salary.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We use the Average Offered salary from the value field setting. 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Finally we use the column chart to represent the data.    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C1"/>
          <p:cNvPicPr>
            <a:picLocks noChangeAspect="1"/>
          </p:cNvPicPr>
          <p:nvPr>
            <p:ph idx="1"/>
          </p:nvPr>
        </p:nvPicPr>
        <p:blipFill>
          <a:blip r:embed="rId1"/>
          <a:srcRect l="1518" t="23181" r="4106" b="13510"/>
          <a:stretch>
            <a:fillRect/>
          </a:stretch>
        </p:blipFill>
        <p:spPr>
          <a:xfrm>
            <a:off x="609600" y="700405"/>
            <a:ext cx="11201400" cy="505841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09600" y="278130"/>
            <a:ext cx="3112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Result:-</a:t>
            </a:r>
            <a:endParaRPr lang="en-US" b="1">
              <a:solidFill>
                <a:srgbClr val="F852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1198880"/>
          </a:xfrm>
        </p:spPr>
        <p:txBody>
          <a:bodyPr/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D. Charts and Plots:-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This is one of the best part of the analysis to visualize the data.</a:t>
            </a: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Your Task:-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Draw Pie Chart/Bar Graph (or any other graph) to show proportion of people working different department? </a:t>
            </a:r>
            <a:endParaRPr lang="en-US" sz="2000"/>
          </a:p>
        </p:txBody>
      </p:sp>
      <p:pic>
        <p:nvPicPr>
          <p:cNvPr id="4" name="Content Placeholder 3" descr="D1"/>
          <p:cNvPicPr>
            <a:picLocks noChangeAspect="1"/>
          </p:cNvPicPr>
          <p:nvPr>
            <p:ph idx="1"/>
          </p:nvPr>
        </p:nvPicPr>
        <p:blipFill>
          <a:blip r:embed="rId1"/>
          <a:srcRect l="1610" t="23643" r="77372" b="49724"/>
          <a:stretch>
            <a:fillRect/>
          </a:stretch>
        </p:blipFill>
        <p:spPr>
          <a:xfrm>
            <a:off x="7364095" y="1389380"/>
            <a:ext cx="4218305" cy="450024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12445" y="1550670"/>
            <a:ext cx="6447790" cy="4339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Process:-</a:t>
            </a:r>
            <a:endParaRPr lang="en-US" b="1">
              <a:solidFill>
                <a:srgbClr val="F852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We use the Pivot Table function for this task.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Add the Status in the Report Filter and Department field in the Axis field.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Also add the Offered Salary in Value and use count offered salary from value field setting.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Now, for visulization first we use the Bar chart. before that select the Hired from the Status.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D1"/>
          <p:cNvPicPr>
            <a:picLocks noChangeAspect="1"/>
          </p:cNvPicPr>
          <p:nvPr>
            <p:ph idx="1"/>
          </p:nvPr>
        </p:nvPicPr>
        <p:blipFill>
          <a:blip r:embed="rId1"/>
          <a:srcRect l="25585" t="25679" r="17460" b="15141"/>
          <a:stretch>
            <a:fillRect/>
          </a:stretch>
        </p:blipFill>
        <p:spPr>
          <a:xfrm>
            <a:off x="1010920" y="529590"/>
            <a:ext cx="10053955" cy="528701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570865" y="131445"/>
            <a:ext cx="2579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Result:-</a:t>
            </a:r>
            <a:endParaRPr lang="en-US" b="1">
              <a:solidFill>
                <a:srgbClr val="F852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D2"/>
          <p:cNvPicPr>
            <a:picLocks noChangeAspect="1"/>
          </p:cNvPicPr>
          <p:nvPr>
            <p:ph idx="1"/>
          </p:nvPr>
        </p:nvPicPr>
        <p:blipFill>
          <a:blip r:embed="rId1"/>
          <a:srcRect l="25457" t="25843" r="17505" b="15396"/>
          <a:stretch>
            <a:fillRect/>
          </a:stretch>
        </p:blipFill>
        <p:spPr>
          <a:xfrm>
            <a:off x="1230630" y="652780"/>
            <a:ext cx="9495790" cy="526669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688340" y="160655"/>
            <a:ext cx="22567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Result:-</a:t>
            </a:r>
            <a:endParaRPr lang="en-US" b="1">
              <a:solidFill>
                <a:srgbClr val="F852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2000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E. Charts:-</a:t>
            </a:r>
            <a:r>
              <a:rPr lang="en-US" sz="2000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 different charts and graphs to perform the task representing the data.</a:t>
            </a: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</a:t>
            </a:r>
            <a:r>
              <a:rPr lang="en-US" sz="2000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Your Task:-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Represent different post tiers using charts/graph.</a:t>
            </a:r>
            <a:endParaRPr lang="en-US" sz="2000"/>
          </a:p>
        </p:txBody>
      </p:sp>
      <p:pic>
        <p:nvPicPr>
          <p:cNvPr id="4" name="Content Placeholder 3" descr="E1"/>
          <p:cNvPicPr>
            <a:picLocks noChangeAspect="1"/>
          </p:cNvPicPr>
          <p:nvPr>
            <p:ph sz="half" idx="1"/>
          </p:nvPr>
        </p:nvPicPr>
        <p:blipFill>
          <a:blip r:embed="rId1"/>
          <a:srcRect l="1529" t="23262" r="84267" b="41143"/>
          <a:stretch>
            <a:fillRect/>
          </a:stretch>
        </p:blipFill>
        <p:spPr>
          <a:xfrm>
            <a:off x="5797550" y="1194435"/>
            <a:ext cx="3111500" cy="4468495"/>
          </a:xfrm>
          <a:prstGeom prst="rect">
            <a:avLst/>
          </a:prstGeom>
        </p:spPr>
      </p:pic>
      <p:pic>
        <p:nvPicPr>
          <p:cNvPr id="5" name="Content Placeholder 4" descr="E3"/>
          <p:cNvPicPr>
            <a:picLocks noChangeAspect="1"/>
          </p:cNvPicPr>
          <p:nvPr>
            <p:ph sz="half" idx="2"/>
          </p:nvPr>
        </p:nvPicPr>
        <p:blipFill>
          <a:blip r:embed="rId2"/>
          <a:srcRect l="1555" t="23285" r="83922" b="34592"/>
          <a:stretch>
            <a:fillRect/>
          </a:stretch>
        </p:blipFill>
        <p:spPr>
          <a:xfrm>
            <a:off x="8909050" y="1195070"/>
            <a:ext cx="3062605" cy="446849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775970" y="1195070"/>
            <a:ext cx="4967605" cy="44672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B0604020202020204" pitchFamily="34" charset="0"/>
              <a:buNone/>
            </a:pPr>
            <a:endParaRPr lang="en-US" b="1">
              <a:solidFill>
                <a:srgbClr val="F852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Process:-</a:t>
            </a:r>
            <a:endParaRPr lang="en-US" b="1">
              <a:solidFill>
                <a:srgbClr val="F852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We use the Pivot Table function.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Drag Status in Report filter and Post Name in Row Lables.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Adding Department in values use Count of department from value field setting.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We use the 2 cases first the Hired peoples and the second for the all the peoples (hire and not hired).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Finally, we use the Bar chart and Pie chart for the both cases.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E1"/>
          <p:cNvPicPr>
            <a:picLocks noChangeAspect="1"/>
          </p:cNvPicPr>
          <p:nvPr>
            <p:ph idx="1"/>
          </p:nvPr>
        </p:nvPicPr>
        <p:blipFill>
          <a:blip r:embed="rId1"/>
          <a:srcRect l="18561" t="25679" r="10743" b="14256"/>
          <a:stretch>
            <a:fillRect/>
          </a:stretch>
        </p:blipFill>
        <p:spPr>
          <a:xfrm>
            <a:off x="1011555" y="633730"/>
            <a:ext cx="9993630" cy="522732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775970" y="160655"/>
            <a:ext cx="29457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Result:-</a:t>
            </a:r>
            <a:endParaRPr lang="en-US" b="1">
              <a:solidFill>
                <a:srgbClr val="F852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E2"/>
          <p:cNvPicPr>
            <a:picLocks noChangeAspect="1"/>
          </p:cNvPicPr>
          <p:nvPr>
            <p:ph idx="1"/>
          </p:nvPr>
        </p:nvPicPr>
        <p:blipFill>
          <a:blip r:embed="rId1"/>
          <a:srcRect l="18655" t="25442" r="10785" b="14551"/>
          <a:stretch>
            <a:fillRect/>
          </a:stretch>
        </p:blipFill>
        <p:spPr>
          <a:xfrm>
            <a:off x="600075" y="673735"/>
            <a:ext cx="11078845" cy="538480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761365" y="175260"/>
            <a:ext cx="2169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Result:-</a:t>
            </a:r>
            <a:endParaRPr lang="en-US" b="1">
              <a:solidFill>
                <a:srgbClr val="F852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E3"/>
          <p:cNvPicPr>
            <a:picLocks noChangeAspect="1"/>
          </p:cNvPicPr>
          <p:nvPr>
            <p:ph idx="1"/>
          </p:nvPr>
        </p:nvPicPr>
        <p:blipFill>
          <a:blip r:embed="rId1"/>
          <a:srcRect l="18639" t="25635" r="10760" b="14256"/>
          <a:stretch>
            <a:fillRect/>
          </a:stretch>
        </p:blipFill>
        <p:spPr>
          <a:xfrm>
            <a:off x="920115" y="908685"/>
            <a:ext cx="10527665" cy="503999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732155" y="204470"/>
            <a:ext cx="3062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Result:-</a:t>
            </a:r>
            <a:endParaRPr lang="en-US" b="1">
              <a:solidFill>
                <a:srgbClr val="F852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E4"/>
          <p:cNvPicPr>
            <a:picLocks noChangeAspect="1"/>
          </p:cNvPicPr>
          <p:nvPr>
            <p:ph idx="1"/>
          </p:nvPr>
        </p:nvPicPr>
        <p:blipFill>
          <a:blip r:embed="rId1"/>
          <a:srcRect l="18585" t="25942" r="10919" b="14551"/>
          <a:stretch>
            <a:fillRect/>
          </a:stretch>
        </p:blipFill>
        <p:spPr>
          <a:xfrm>
            <a:off x="732155" y="688340"/>
            <a:ext cx="10653395" cy="515937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394970" y="204470"/>
            <a:ext cx="26085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Result:-</a:t>
            </a:r>
            <a:endParaRPr lang="en-US" b="1">
              <a:solidFill>
                <a:srgbClr val="F852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785" y="1703070"/>
            <a:ext cx="10972800" cy="3147695"/>
          </a:xfrm>
        </p:spPr>
        <p:txBody>
          <a:bodyPr/>
          <a:p>
            <a:pPr algn="ctr"/>
            <a:r>
              <a:rPr lang="en-US" sz="6000" b="1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 sz="6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Waves">
  <a:themeElements>
    <a:clrScheme name="Orang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C73109"/>
      </a:accent1>
      <a:accent2>
        <a:srgbClr val="FF5050"/>
      </a:accent2>
      <a:accent3>
        <a:srgbClr val="FFFFFF"/>
      </a:accent3>
      <a:accent4>
        <a:srgbClr val="000000"/>
      </a:accent4>
      <a:accent5>
        <a:srgbClr val="E0ADAA"/>
      </a:accent5>
      <a:accent6>
        <a:srgbClr val="E74848"/>
      </a:accent6>
      <a:hlink>
        <a:srgbClr val="4D4D4D"/>
      </a:hlink>
      <a:folHlink>
        <a:srgbClr val="777777"/>
      </a:folHlink>
    </a:clrScheme>
    <a:fontScheme name="Orang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Orang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C73109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E0ADAA"/>
        </a:accent5>
        <a:accent6>
          <a:srgbClr val="E74848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3938</Words>
  <Application>WPS Presentation</Application>
  <PresentationFormat>Widescreen</PresentationFormat>
  <Paragraphs>88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SimSun</vt:lpstr>
      <vt:lpstr>Wingdings</vt:lpstr>
      <vt:lpstr>Microsoft YaHei</vt:lpstr>
      <vt:lpstr>Arial Unicode MS</vt:lpstr>
      <vt:lpstr>Calibri</vt:lpstr>
      <vt:lpstr>Times New Roman</vt:lpstr>
      <vt:lpstr>Wingdings</vt:lpstr>
      <vt:lpstr>Segoe Script</vt:lpstr>
      <vt:lpstr>Orange Waves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91830</cp:lastModifiedBy>
  <cp:revision>11</cp:revision>
  <dcterms:created xsi:type="dcterms:W3CDTF">2024-12-01T09:23:00Z</dcterms:created>
  <dcterms:modified xsi:type="dcterms:W3CDTF">2024-12-01T14:52:03Z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429FA6E18B8749418BF268E1777EE709_11</vt:lpwstr>
  </property>
  <property fmtid="{D5CDD505-2E9C-101B-9397-08002B2CF9AE}" pid="3" name="KSOProductBuildVer">
    <vt:lpwstr>1033-12.2.0.18607</vt:lpwstr>
  </property>
</Properties>
</file>