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1" r:id="rId6"/>
    <p:sldId id="262" r:id="rId7"/>
    <p:sldId id="259" r:id="rId8"/>
    <p:sldId id="265" r:id="rId9"/>
    <p:sldId id="266" r:id="rId10"/>
    <p:sldId id="267" r:id="rId11"/>
    <p:sldId id="268" r:id="rId12"/>
    <p:sldId id="271" r:id="rId13"/>
    <p:sldId id="272" r:id="rId14"/>
    <p:sldId id="273" r:id="rId15"/>
    <p:sldId id="275" r:id="rId16"/>
    <p:sldId id="277" r:id="rId17"/>
    <p:sldId id="278" r:id="rId18"/>
    <p:sldId id="274" r:id="rId19"/>
    <p:sldId id="281" r:id="rId20"/>
    <p:sldId id="282" r:id="rId21"/>
    <p:sldId id="283" r:id="rId22"/>
    <p:sldId id="284" r:id="rId23"/>
    <p:sldId id="28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2F2"/>
    <a:srgbClr val="FF88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p:cNvPicPr>
            <a:picLocks noChangeAspect="1"/>
          </p:cNvPicPr>
          <p:nvPr/>
        </p:nvPicPr>
        <p:blipFill>
          <a:blip r:embed="rId13"/>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8.png"/><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635"/>
            <a:ext cx="10515600" cy="1836420"/>
          </a:xfrm>
          <a:noFill/>
        </p:spPr>
        <p:txBody>
          <a:bodyPr/>
          <a:lstStyle/>
          <a:p>
            <a:pPr algn="ctr"/>
            <a:r>
              <a:rPr lang="en-US" sz="2400" b="1" dirty="0" smtClean="0">
                <a:solidFill>
                  <a:srgbClr val="FF8810"/>
                </a:solidFill>
                <a:latin typeface="Times New Roman" panose="02020603050405020304" charset="0"/>
                <a:cs typeface="Times New Roman" panose="02020603050405020304" charset="0"/>
                <a:sym typeface="+mn-ea"/>
              </a:rPr>
              <a:t>Name:- </a:t>
            </a:r>
            <a:r>
              <a:rPr lang="en-US" sz="2400" b="1" dirty="0" err="1" smtClean="0">
                <a:solidFill>
                  <a:srgbClr val="FF8810"/>
                </a:solidFill>
                <a:latin typeface="Times New Roman" panose="02020603050405020304" charset="0"/>
                <a:cs typeface="Times New Roman" panose="02020603050405020304" charset="0"/>
                <a:sym typeface="+mn-ea"/>
              </a:rPr>
              <a:t>Yash</a:t>
            </a:r>
            <a:r>
              <a:rPr lang="en-US" sz="2400" b="1" dirty="0" smtClean="0">
                <a:solidFill>
                  <a:srgbClr val="FF8810"/>
                </a:solidFill>
                <a:latin typeface="Times New Roman" panose="02020603050405020304" charset="0"/>
                <a:cs typeface="Times New Roman" panose="02020603050405020304" charset="0"/>
                <a:sym typeface="+mn-ea"/>
              </a:rPr>
              <a:t> </a:t>
            </a:r>
            <a:r>
              <a:rPr lang="en-US" sz="2400" b="1" dirty="0" err="1" smtClean="0">
                <a:solidFill>
                  <a:srgbClr val="FF8810"/>
                </a:solidFill>
                <a:latin typeface="Times New Roman" panose="02020603050405020304" charset="0"/>
                <a:cs typeface="Times New Roman" panose="02020603050405020304" charset="0"/>
                <a:sym typeface="+mn-ea"/>
              </a:rPr>
              <a:t>Rajendra</a:t>
            </a:r>
            <a:r>
              <a:rPr lang="en-US" sz="2400" b="1" dirty="0" smtClean="0">
                <a:solidFill>
                  <a:srgbClr val="FF8810"/>
                </a:solidFill>
                <a:latin typeface="Times New Roman" panose="02020603050405020304" charset="0"/>
                <a:cs typeface="Times New Roman" panose="02020603050405020304" charset="0"/>
                <a:sym typeface="+mn-ea"/>
              </a:rPr>
              <a:t> </a:t>
            </a:r>
            <a:r>
              <a:rPr lang="en-US" sz="2400" b="1" dirty="0" err="1" smtClean="0">
                <a:solidFill>
                  <a:srgbClr val="FF8810"/>
                </a:solidFill>
                <a:latin typeface="Times New Roman" panose="02020603050405020304" charset="0"/>
                <a:cs typeface="Times New Roman" panose="02020603050405020304" charset="0"/>
                <a:sym typeface="+mn-ea"/>
              </a:rPr>
              <a:t>Gaikwad</a:t>
            </a:r>
            <a:br>
              <a:rPr lang="en-US" sz="2400" b="1" dirty="0" smtClean="0">
                <a:solidFill>
                  <a:srgbClr val="FF8810"/>
                </a:solidFill>
                <a:latin typeface="Times New Roman" panose="02020603050405020304" charset="0"/>
                <a:cs typeface="Times New Roman" panose="02020603050405020304" charset="0"/>
                <a:sym typeface="+mn-ea"/>
              </a:rPr>
            </a:br>
            <a:r>
              <a:rPr lang="en-US" sz="2400" b="1" dirty="0" smtClean="0">
                <a:solidFill>
                  <a:srgbClr val="FF8810"/>
                </a:solidFill>
                <a:latin typeface="Times New Roman" panose="02020603050405020304" charset="0"/>
                <a:cs typeface="Times New Roman" panose="02020603050405020304" charset="0"/>
                <a:sym typeface="+mn-ea"/>
              </a:rPr>
              <a:t>Data Analytics Trainee</a:t>
            </a:r>
            <a:br>
              <a:rPr lang="en-US" sz="2400" b="1" dirty="0" smtClean="0">
                <a:solidFill>
                  <a:srgbClr val="FF8810"/>
                </a:solidFill>
                <a:latin typeface="Times New Roman" panose="02020603050405020304" charset="0"/>
                <a:cs typeface="Times New Roman" panose="02020603050405020304" charset="0"/>
                <a:sym typeface="+mn-ea"/>
              </a:rPr>
            </a:br>
            <a:r>
              <a:rPr lang="en-US" sz="2400" b="1" dirty="0" smtClean="0">
                <a:solidFill>
                  <a:srgbClr val="FF8810"/>
                </a:solidFill>
                <a:latin typeface="Times New Roman" panose="02020603050405020304" charset="0"/>
                <a:cs typeface="Times New Roman" panose="02020603050405020304" charset="0"/>
                <a:sym typeface="+mn-ea"/>
              </a:rPr>
              <a:t>Project 6:- Bank Loan Case Study.</a:t>
            </a:r>
            <a:br>
              <a:rPr lang="en-US" sz="2400" b="1" dirty="0" smtClean="0">
                <a:solidFill>
                  <a:srgbClr val="FF8810"/>
                </a:solidFill>
                <a:latin typeface="Times New Roman" panose="02020603050405020304" charset="0"/>
                <a:cs typeface="Times New Roman" panose="02020603050405020304" charset="0"/>
                <a:sym typeface="+mn-ea"/>
              </a:rPr>
            </a:br>
            <a:r>
              <a:rPr lang="en-US" sz="2400" b="1" dirty="0" smtClean="0">
                <a:solidFill>
                  <a:srgbClr val="FF8810"/>
                </a:solidFill>
                <a:latin typeface="Times New Roman" panose="02020603050405020304" charset="0"/>
                <a:cs typeface="Times New Roman" panose="02020603050405020304" charset="0"/>
                <a:sym typeface="+mn-ea"/>
              </a:rPr>
              <a:t>Software Used:- Microsoft Excel.</a:t>
            </a:r>
            <a:endParaRPr lang="en-US" sz="2400" b="1" dirty="0" smtClean="0">
              <a:solidFill>
                <a:srgbClr val="FF8810"/>
              </a:solidFill>
              <a:latin typeface="Times New Roman" panose="02020603050405020304" charset="0"/>
              <a:cs typeface="Times New Roman" panose="02020603050405020304" charset="0"/>
              <a:sym typeface="+mn-ea"/>
            </a:endParaRPr>
          </a:p>
        </p:txBody>
      </p:sp>
      <p:sp>
        <p:nvSpPr>
          <p:cNvPr id="3" name="Text Placeholder 2"/>
          <p:cNvSpPr>
            <a:spLocks noGrp="1"/>
          </p:cNvSpPr>
          <p:nvPr>
            <p:ph type="body" idx="1"/>
          </p:nvPr>
        </p:nvSpPr>
        <p:spPr>
          <a:xfrm>
            <a:off x="831850" y="1968500"/>
            <a:ext cx="10515600" cy="4355465"/>
          </a:xfrm>
        </p:spPr>
        <p:txBody>
          <a:bodyPr/>
          <a:lstStyle/>
          <a:p>
            <a:pPr marL="285750" indent="-285750" algn="l">
              <a:buFont typeface="Wingdings" panose="05000000000000000000" charset="0"/>
              <a:buChar char="v"/>
            </a:pPr>
            <a:r>
              <a:rPr lang="en-US" sz="1800" b="1">
                <a:solidFill>
                  <a:srgbClr val="FF8810"/>
                </a:solidFill>
                <a:latin typeface="Times New Roman" panose="02020603050405020304" charset="0"/>
                <a:cs typeface="Times New Roman" panose="02020603050405020304" charset="0"/>
                <a:sym typeface="+mn-ea"/>
              </a:rPr>
              <a:t>Analysis done on following Points:-</a:t>
            </a:r>
            <a:endParaRPr lang="en-US" sz="1800" b="1">
              <a:solidFill>
                <a:srgbClr val="FF8810"/>
              </a:solidFill>
              <a:latin typeface="Times New Roman" panose="02020603050405020304" charset="0"/>
              <a:cs typeface="Times New Roman" panose="02020603050405020304" charset="0"/>
              <a:sym typeface="+mn-ea"/>
            </a:endParaRPr>
          </a:p>
          <a:p>
            <a:pPr indent="0" algn="l">
              <a:buFont typeface="Wingdings" panose="05000000000000000000" charset="0"/>
              <a:buNone/>
            </a:pPr>
            <a:r>
              <a:rPr lang="en-US" sz="1800" b="1">
                <a:latin typeface="Times New Roman" panose="02020603050405020304" charset="0"/>
                <a:cs typeface="Times New Roman" panose="02020603050405020304" charset="0"/>
                <a:sym typeface="+mn-ea"/>
              </a:rPr>
              <a:t>A) Identify Missing Data and  Deal with it Appropriately:- </a:t>
            </a:r>
            <a:r>
              <a:rPr lang="en-US" sz="1800">
                <a:latin typeface="Times New Roman" panose="02020603050405020304" charset="0"/>
                <a:cs typeface="Times New Roman" panose="02020603050405020304" charset="0"/>
                <a:sym typeface="+mn-ea"/>
              </a:rPr>
              <a:t>As a data analyst, you come across missing dat in the loan application dataset. it is essential to handle missing data effectively to ensure the accuracy of the analysis.</a:t>
            </a:r>
            <a:endParaRPr lang="en-US" sz="1800">
              <a:latin typeface="Times New Roman" panose="02020603050405020304" charset="0"/>
              <a:cs typeface="Times New Roman" panose="02020603050405020304" charset="0"/>
            </a:endParaRPr>
          </a:p>
          <a:p>
            <a:pPr indent="0" algn="l">
              <a:buFont typeface="Wingdings" panose="05000000000000000000" charset="0"/>
              <a:buNone/>
            </a:pPr>
            <a:r>
              <a:rPr lang="en-US" sz="1800">
                <a:latin typeface="Times New Roman" panose="02020603050405020304" charset="0"/>
                <a:cs typeface="Times New Roman" panose="02020603050405020304" charset="0"/>
                <a:sym typeface="+mn-ea"/>
              </a:rPr>
              <a:t>     </a:t>
            </a:r>
            <a:r>
              <a:rPr lang="en-US" sz="1800" b="1">
                <a:latin typeface="Times New Roman" panose="02020603050405020304" charset="0"/>
                <a:cs typeface="Times New Roman" panose="02020603050405020304" charset="0"/>
                <a:sym typeface="+mn-ea"/>
              </a:rPr>
              <a:t>Task:-</a:t>
            </a:r>
            <a:r>
              <a:rPr lang="en-US" sz="1800">
                <a:latin typeface="Times New Roman" panose="02020603050405020304" charset="0"/>
                <a:cs typeface="Times New Roman" panose="02020603050405020304" charset="0"/>
                <a:sym typeface="+mn-ea"/>
              </a:rPr>
              <a:t> Identify missing data in the dataset and decide on an appropriate method to deal with it usong excel built-in        function and features.</a:t>
            </a:r>
            <a:endParaRPr lang="en-US" sz="1800">
              <a:latin typeface="Times New Roman" panose="02020603050405020304" charset="0"/>
              <a:cs typeface="Times New Roman" panose="02020603050405020304" charset="0"/>
            </a:endParaRPr>
          </a:p>
          <a:p>
            <a:pPr indent="0" algn="l">
              <a:buFont typeface="Wingdings" panose="05000000000000000000" charset="0"/>
              <a:buNone/>
            </a:pPr>
            <a:r>
              <a:rPr lang="en-US" sz="1800" b="1">
                <a:latin typeface="Times New Roman" panose="02020603050405020304" charset="0"/>
                <a:cs typeface="Times New Roman" panose="02020603050405020304" charset="0"/>
                <a:sym typeface="+mn-ea"/>
              </a:rPr>
              <a:t>B) Identify Outliners in the Dataset:-</a:t>
            </a:r>
            <a:r>
              <a:rPr lang="en-US" sz="1800">
                <a:latin typeface="Times New Roman" panose="02020603050405020304" charset="0"/>
                <a:cs typeface="Times New Roman" panose="02020603050405020304" charset="0"/>
                <a:sym typeface="+mn-ea"/>
              </a:rPr>
              <a:t> Outliners can significantly impact the analysis and distort the results. you need to identify outliner in the loan application dataset.</a:t>
            </a:r>
            <a:endParaRPr lang="en-US" sz="1800">
              <a:latin typeface="Times New Roman" panose="02020603050405020304" charset="0"/>
              <a:cs typeface="Times New Roman" panose="02020603050405020304" charset="0"/>
            </a:endParaRPr>
          </a:p>
          <a:p>
            <a:pPr indent="0" algn="l">
              <a:buFont typeface="Wingdings" panose="05000000000000000000" charset="0"/>
              <a:buNone/>
            </a:pPr>
            <a:r>
              <a:rPr lang="en-US" sz="1800">
                <a:latin typeface="Times New Roman" panose="02020603050405020304" charset="0"/>
                <a:cs typeface="Times New Roman" panose="02020603050405020304" charset="0"/>
                <a:sym typeface="+mn-ea"/>
              </a:rPr>
              <a:t>    </a:t>
            </a:r>
            <a:r>
              <a:rPr lang="en-US" sz="1800" b="1">
                <a:latin typeface="Times New Roman" panose="02020603050405020304" charset="0"/>
                <a:cs typeface="Times New Roman" panose="02020603050405020304" charset="0"/>
                <a:sym typeface="+mn-ea"/>
              </a:rPr>
              <a:t> Task:-</a:t>
            </a:r>
            <a:r>
              <a:rPr lang="en-US" sz="1800">
                <a:latin typeface="Times New Roman" panose="02020603050405020304" charset="0"/>
                <a:cs typeface="Times New Roman" panose="02020603050405020304" charset="0"/>
                <a:sym typeface="+mn-ea"/>
              </a:rPr>
              <a:t> Detect and identift outliners in the dataset using Excel statistical function and features, focusing on numberical variables.</a:t>
            </a:r>
            <a:endParaRPr lang="en-US" sz="1800">
              <a:latin typeface="Times New Roman" panose="02020603050405020304" charset="0"/>
              <a:cs typeface="Times New Roman" panose="02020603050405020304" charset="0"/>
            </a:endParaRPr>
          </a:p>
          <a:p>
            <a:pPr indent="0" algn="l">
              <a:buFont typeface="Wingdings" panose="05000000000000000000" charset="0"/>
              <a:buNone/>
            </a:pPr>
            <a:r>
              <a:rPr lang="en-US" sz="1800" b="1">
                <a:latin typeface="Times New Roman" panose="02020603050405020304" charset="0"/>
                <a:cs typeface="Times New Roman" panose="02020603050405020304" charset="0"/>
                <a:sym typeface="+mn-ea"/>
              </a:rPr>
              <a:t>C) Analyze Data Imbalance:-</a:t>
            </a:r>
            <a:r>
              <a:rPr lang="en-US" sz="1800">
                <a:latin typeface="Times New Roman" panose="02020603050405020304" charset="0"/>
                <a:cs typeface="Times New Roman" panose="02020603050405020304" charset="0"/>
                <a:sym typeface="+mn-ea"/>
              </a:rPr>
              <a:t> Data imbalance can affect the accuracy of the analysis, especially for binary classification problems.</a:t>
            </a:r>
            <a:endParaRPr lang="en-US" sz="1800">
              <a:latin typeface="Times New Roman" panose="02020603050405020304" charset="0"/>
              <a:cs typeface="Times New Roman" panose="02020603050405020304" charset="0"/>
            </a:endParaRPr>
          </a:p>
          <a:p>
            <a:pPr indent="0" algn="l">
              <a:buFont typeface="Wingdings" panose="05000000000000000000" charset="0"/>
              <a:buNone/>
            </a:pPr>
            <a:r>
              <a:rPr lang="en-US" sz="1800">
                <a:latin typeface="Times New Roman" panose="02020603050405020304" charset="0"/>
                <a:cs typeface="Times New Roman" panose="02020603050405020304" charset="0"/>
                <a:sym typeface="+mn-ea"/>
              </a:rPr>
              <a:t>    </a:t>
            </a:r>
            <a:r>
              <a:rPr lang="en-US" sz="1800" b="1">
                <a:latin typeface="Times New Roman" panose="02020603050405020304" charset="0"/>
                <a:cs typeface="Times New Roman" panose="02020603050405020304" charset="0"/>
                <a:sym typeface="+mn-ea"/>
              </a:rPr>
              <a:t>Task:-</a:t>
            </a:r>
            <a:r>
              <a:rPr lang="en-US" sz="1800">
                <a:latin typeface="Times New Roman" panose="02020603050405020304" charset="0"/>
                <a:cs typeface="Times New Roman" panose="02020603050405020304" charset="0"/>
                <a:sym typeface="+mn-ea"/>
              </a:rPr>
              <a:t> Determine if there is data imbalance in dataset and calculate ratio of data imbalance using Excel function.</a:t>
            </a:r>
            <a:endParaRPr lang="en-US" sz="1800">
              <a:latin typeface="Times New Roman" panose="02020603050405020304" charset="0"/>
              <a:cs typeface="Times New Roman" panose="02020603050405020304" charset="0"/>
            </a:endParaRPr>
          </a:p>
          <a:p>
            <a:pPr indent="0" algn="l">
              <a:buFont typeface="Wingdings" panose="05000000000000000000" charset="0"/>
              <a:buNone/>
            </a:pPr>
            <a:r>
              <a:rPr lang="en-US" sz="1800">
                <a:latin typeface="Times New Roman" panose="02020603050405020304" charset="0"/>
                <a:cs typeface="Times New Roman" panose="02020603050405020304" charset="0"/>
                <a:sym typeface="+mn-ea"/>
              </a:rPr>
              <a:t> </a:t>
            </a:r>
            <a:endParaRPr lang="en-US" sz="180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600075" y="1010285"/>
            <a:ext cx="10800080" cy="3048635"/>
          </a:xfrm>
          <a:prstGeom prst="rect">
            <a:avLst/>
          </a:prstGeom>
          <a:noFill/>
        </p:spPr>
        <p:txBody>
          <a:bodyPr wrap="square" rtlCol="0">
            <a:noAutofit/>
          </a:bodyPr>
          <a:p>
            <a:pPr indent="0" algn="l">
              <a:buFont typeface="Wingdings" panose="05000000000000000000" charset="0"/>
              <a:buNone/>
            </a:pPr>
            <a:r>
              <a:rPr lang="en-US" b="1">
                <a:latin typeface="Times New Roman" panose="02020603050405020304" charset="0"/>
                <a:cs typeface="Times New Roman" panose="02020603050405020304" charset="0"/>
                <a:sym typeface="+mn-ea"/>
              </a:rPr>
              <a:t>D) Perform Univarite, Segmented Univariate and Bivariate Analysis:- </a:t>
            </a:r>
            <a:r>
              <a:rPr lang="en-US">
                <a:latin typeface="Times New Roman" panose="02020603050405020304" charset="0"/>
                <a:cs typeface="Times New Roman" panose="02020603050405020304" charset="0"/>
                <a:sym typeface="+mn-ea"/>
              </a:rPr>
              <a:t>To gain insight into the driving factors of loan default, it is important to conduct various analysis on cousumer and loan attributes.</a:t>
            </a:r>
            <a:endParaRPr lang="en-US">
              <a:latin typeface="Times New Roman" panose="02020603050405020304" charset="0"/>
              <a:cs typeface="Times New Roman" panose="02020603050405020304" charset="0"/>
            </a:endParaRPr>
          </a:p>
          <a:p>
            <a:pPr indent="0" algn="l">
              <a:buFont typeface="Wingdings" panose="05000000000000000000" charset="0"/>
              <a:buNone/>
            </a:pPr>
            <a:r>
              <a:rPr lang="en-US">
                <a:latin typeface="Times New Roman" panose="02020603050405020304" charset="0"/>
                <a:cs typeface="Times New Roman" panose="02020603050405020304" charset="0"/>
                <a:sym typeface="+mn-ea"/>
              </a:rPr>
              <a:t>     </a:t>
            </a:r>
            <a:r>
              <a:rPr lang="en-US" b="1">
                <a:latin typeface="Times New Roman" panose="02020603050405020304" charset="0"/>
                <a:cs typeface="Times New Roman" panose="02020603050405020304" charset="0"/>
                <a:sym typeface="+mn-ea"/>
              </a:rPr>
              <a:t>Task:- </a:t>
            </a:r>
            <a:r>
              <a:rPr lang="en-US">
                <a:latin typeface="Times New Roman" panose="02020603050405020304" charset="0"/>
                <a:cs typeface="Times New Roman" panose="02020603050405020304" charset="0"/>
                <a:sym typeface="+mn-ea"/>
              </a:rPr>
              <a:t>Perform univariate analysis to understand the distribution of individual variables, segmented univariate analysis to compare variabledistributions for different scenarios, and bivariate analysis to explore relationship between variables and the target variable using Excel Functions and features.</a:t>
            </a:r>
            <a:endParaRPr lang="en-US">
              <a:latin typeface="Times New Roman" panose="02020603050405020304" charset="0"/>
              <a:cs typeface="Times New Roman" panose="02020603050405020304" charset="0"/>
              <a:sym typeface="+mn-ea"/>
            </a:endParaRPr>
          </a:p>
          <a:p>
            <a:pPr indent="0" algn="l">
              <a:buFont typeface="Wingdings" panose="05000000000000000000" charset="0"/>
              <a:buNone/>
            </a:pPr>
            <a:endParaRPr lang="en-US"/>
          </a:p>
          <a:p>
            <a:pPr indent="0" algn="l">
              <a:buFont typeface="Wingdings" panose="05000000000000000000" charset="0"/>
              <a:buNone/>
            </a:pPr>
            <a:r>
              <a:rPr lang="en-US" b="1">
                <a:latin typeface="Times New Roman" panose="02020603050405020304" charset="0"/>
                <a:cs typeface="Times New Roman" panose="02020603050405020304" charset="0"/>
              </a:rPr>
              <a:t>E) Identify Top Correlations for Differenr Scenarios:-</a:t>
            </a:r>
            <a:r>
              <a:rPr lang="en-US">
                <a:latin typeface="Times New Roman" panose="02020603050405020304" charset="0"/>
                <a:cs typeface="Times New Roman" panose="02020603050405020304" charset="0"/>
              </a:rPr>
              <a:t> Understanding the correlation between variables and the target variable can provide insights into stromg indicators ofloan default.</a:t>
            </a:r>
            <a:endParaRPr lang="en-US">
              <a:latin typeface="Times New Roman" panose="02020603050405020304" charset="0"/>
              <a:cs typeface="Times New Roman" panose="02020603050405020304" charset="0"/>
            </a:endParaRPr>
          </a:p>
          <a:p>
            <a:pPr indent="0" algn="l">
              <a:buFont typeface="Wingdings" panose="05000000000000000000" charset="0"/>
              <a:buNone/>
            </a:pPr>
            <a:r>
              <a:rPr lang="en-US">
                <a:latin typeface="Times New Roman" panose="02020603050405020304" charset="0"/>
                <a:cs typeface="Times New Roman" panose="02020603050405020304" charset="0"/>
              </a:rPr>
              <a:t>     </a:t>
            </a:r>
            <a:r>
              <a:rPr lang="en-US" b="1">
                <a:latin typeface="Times New Roman" panose="02020603050405020304" charset="0"/>
                <a:cs typeface="Times New Roman" panose="02020603050405020304" charset="0"/>
              </a:rPr>
              <a:t>Task:-</a:t>
            </a:r>
            <a:r>
              <a:rPr lang="en-US">
                <a:latin typeface="Times New Roman" panose="02020603050405020304" charset="0"/>
                <a:cs typeface="Times New Roman" panose="02020603050405020304" charset="0"/>
              </a:rPr>
              <a:t> Segment the dataset based on different Scenarious. and identify the top correlations for each segmented data using Excel Functions.</a:t>
            </a:r>
            <a:endParaRPr lang="en-US">
              <a:latin typeface="Times New Roman" panose="02020603050405020304" charset="0"/>
              <a:cs typeface="Times New Roman" panose="02020603050405020304" charset="0"/>
            </a:endParaRPr>
          </a:p>
        </p:txBody>
      </p:sp>
      <p:sp>
        <p:nvSpPr>
          <p:cNvPr id="5" name="Text Box 4"/>
          <p:cNvSpPr txBox="1"/>
          <p:nvPr/>
        </p:nvSpPr>
        <p:spPr>
          <a:xfrm>
            <a:off x="714375" y="4527550"/>
            <a:ext cx="10685780" cy="1494790"/>
          </a:xfrm>
          <a:prstGeom prst="rect">
            <a:avLst/>
          </a:prstGeom>
          <a:noFill/>
          <a:ln w="12700">
            <a:solidFill>
              <a:srgbClr val="FFC000"/>
            </a:solidFill>
          </a:ln>
        </p:spPr>
        <p:txBody>
          <a:bodyPr wrap="square" rtlCol="0">
            <a:noAutofit/>
          </a:bodyPr>
          <a:p>
            <a:pPr marL="285750" indent="-285750">
              <a:buFont typeface="Wingdings" panose="05000000000000000000" charset="0"/>
              <a:buChar char="v"/>
            </a:pPr>
            <a:r>
              <a:rPr lang="en-US" b="1">
                <a:solidFill>
                  <a:srgbClr val="FF8810"/>
                </a:solidFill>
                <a:latin typeface="Times New Roman" panose="02020603050405020304" charset="0"/>
                <a:cs typeface="Times New Roman" panose="02020603050405020304" charset="0"/>
              </a:rPr>
              <a:t>MICROSOFT EXCEL FILE:-</a:t>
            </a:r>
            <a:r>
              <a:rPr lang="en-US">
                <a:solidFill>
                  <a:schemeClr val="tx1"/>
                </a:solidFill>
                <a:latin typeface="Times New Roman" panose="02020603050405020304" charset="0"/>
                <a:cs typeface="Times New Roman" panose="02020603050405020304" charset="0"/>
              </a:rPr>
              <a:t> </a:t>
            </a:r>
            <a:r>
              <a:rPr lang="en-US">
                <a:solidFill>
                  <a:srgbClr val="0022F2"/>
                </a:solidFill>
                <a:latin typeface="Times New Roman" panose="02020603050405020304" charset="0"/>
                <a:cs typeface="Times New Roman" panose="02020603050405020304" charset="0"/>
              </a:rPr>
              <a:t>https://docs.google.com/spreadsheets/d/1tgmGcpx9cmGHbVpD6r4QAubecG-PgD_q/edit?usp=drive_link&amp;ouid=103974361659264463652&amp;rtpof=true&amp;sd=true</a:t>
            </a:r>
            <a:endParaRPr lang="en-US">
              <a:solidFill>
                <a:srgbClr val="0022F2"/>
              </a:solidFill>
              <a:latin typeface="Times New Roman" panose="02020603050405020304" charset="0"/>
              <a:cs typeface="Times New Roman" panose="02020603050405020304" charset="0"/>
            </a:endParaRPr>
          </a:p>
          <a:p>
            <a:pPr indent="0">
              <a:buFont typeface="Wingdings" panose="05000000000000000000" charset="0"/>
              <a:buNone/>
            </a:pPr>
            <a:endParaRPr lang="en-US" sz="500">
              <a:solidFill>
                <a:srgbClr val="0022F2"/>
              </a:solidFill>
              <a:latin typeface="Times New Roman" panose="02020603050405020304" charset="0"/>
              <a:cs typeface="Times New Roman" panose="02020603050405020304" charset="0"/>
            </a:endParaRPr>
          </a:p>
          <a:p>
            <a:pPr marL="285750" indent="-285750">
              <a:buFont typeface="Wingdings" panose="05000000000000000000" charset="0"/>
              <a:buChar char="v"/>
            </a:pPr>
            <a:r>
              <a:rPr lang="en-US" b="1">
                <a:solidFill>
                  <a:srgbClr val="FF8810"/>
                </a:solidFill>
                <a:latin typeface="Times New Roman" panose="02020603050405020304" charset="0"/>
                <a:cs typeface="Times New Roman" panose="02020603050405020304" charset="0"/>
              </a:rPr>
              <a:t>VIDEO LINK:</a:t>
            </a:r>
            <a:r>
              <a:rPr lang="en-US" b="1">
                <a:solidFill>
                  <a:srgbClr val="0022F2"/>
                </a:solidFill>
                <a:latin typeface="Times New Roman" panose="02020603050405020304" charset="0"/>
                <a:cs typeface="Times New Roman" panose="02020603050405020304" charset="0"/>
              </a:rPr>
              <a:t>-</a:t>
            </a:r>
            <a:r>
              <a:rPr lang="en-US">
                <a:solidFill>
                  <a:srgbClr val="0022F2"/>
                </a:solidFill>
                <a:latin typeface="Times New Roman" panose="02020603050405020304" charset="0"/>
                <a:cs typeface="Times New Roman" panose="02020603050405020304" charset="0"/>
              </a:rPr>
              <a:t>https://www.loom.com/share/71722adfb0424bb59daa57fcc3e03340?sid=0dbcd61a-5f08-4723-b32b-2e9e41d52d1a</a:t>
            </a:r>
            <a:endParaRPr lang="en-US">
              <a:solidFill>
                <a:srgbClr val="0022F2"/>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289050"/>
          </a:xfrm>
        </p:spPr>
        <p:txBody>
          <a:bodyPr/>
          <a:p>
            <a:r>
              <a:rPr lang="en-US" sz="1800" b="1">
                <a:solidFill>
                  <a:srgbClr val="FF8810"/>
                </a:solidFill>
                <a:latin typeface="Times New Roman" panose="02020603050405020304" charset="0"/>
                <a:cs typeface="Times New Roman" panose="02020603050405020304" charset="0"/>
                <a:sym typeface="+mn-ea"/>
              </a:rPr>
              <a:t>A) Identify Missing Data and  Deal with it Appropriately:- </a:t>
            </a:r>
            <a:r>
              <a:rPr lang="en-US" sz="1800">
                <a:latin typeface="Times New Roman" panose="02020603050405020304" charset="0"/>
                <a:cs typeface="Times New Roman" panose="02020603050405020304" charset="0"/>
                <a:sym typeface="+mn-ea"/>
              </a:rPr>
              <a:t>As a data analyst, you come across missing dat in the loan application dataset. it is essential to handle missing data effectively to ensure the accuracy of the analysis.</a:t>
            </a:r>
            <a:br>
              <a:rPr lang="en-US" sz="1800">
                <a:latin typeface="Times New Roman" panose="02020603050405020304" charset="0"/>
                <a:cs typeface="Times New Roman" panose="02020603050405020304" charset="0"/>
              </a:rPr>
            </a:br>
            <a:r>
              <a:rPr lang="en-US" sz="1800">
                <a:latin typeface="Times New Roman" panose="02020603050405020304" charset="0"/>
                <a:cs typeface="Times New Roman" panose="02020603050405020304" charset="0"/>
                <a:sym typeface="+mn-ea"/>
              </a:rPr>
              <a:t>     </a:t>
            </a:r>
            <a:r>
              <a:rPr lang="en-US" sz="1800" b="1">
                <a:solidFill>
                  <a:srgbClr val="FF8810"/>
                </a:solidFill>
                <a:latin typeface="Times New Roman" panose="02020603050405020304" charset="0"/>
                <a:cs typeface="Times New Roman" panose="02020603050405020304" charset="0"/>
                <a:sym typeface="+mn-ea"/>
              </a:rPr>
              <a:t>Task:-</a:t>
            </a:r>
            <a:r>
              <a:rPr lang="en-US" sz="1800">
                <a:solidFill>
                  <a:srgbClr val="FF8810"/>
                </a:solidFill>
                <a:latin typeface="Times New Roman" panose="02020603050405020304" charset="0"/>
                <a:cs typeface="Times New Roman" panose="02020603050405020304" charset="0"/>
                <a:sym typeface="+mn-ea"/>
              </a:rPr>
              <a:t> </a:t>
            </a:r>
            <a:r>
              <a:rPr lang="en-US" sz="1800">
                <a:latin typeface="Times New Roman" panose="02020603050405020304" charset="0"/>
                <a:cs typeface="Times New Roman" panose="02020603050405020304" charset="0"/>
                <a:sym typeface="+mn-ea"/>
              </a:rPr>
              <a:t>Identify missing data in the dataset and decide on an appropriate method to deal with it usong excel built-in        function and features.</a:t>
            </a:r>
            <a:endParaRPr lang="en-US" sz="1800">
              <a:latin typeface="Times New Roman" panose="02020603050405020304" charset="0"/>
              <a:cs typeface="Times New Roman" panose="02020603050405020304" charset="0"/>
              <a:sym typeface="+mn-ea"/>
            </a:endParaRPr>
          </a:p>
        </p:txBody>
      </p:sp>
      <p:sp>
        <p:nvSpPr>
          <p:cNvPr id="5" name="Content Placeholder 4"/>
          <p:cNvSpPr>
            <a:spLocks noGrp="1"/>
          </p:cNvSpPr>
          <p:nvPr>
            <p:ph idx="1"/>
          </p:nvPr>
        </p:nvSpPr>
        <p:spPr>
          <a:xfrm>
            <a:off x="609600" y="1479550"/>
            <a:ext cx="10972800" cy="4648200"/>
          </a:xfrm>
        </p:spPr>
        <p:txBody>
          <a:bodyPr/>
          <a:p>
            <a:endParaRPr lang="en-US" sz="1800" b="1">
              <a:solidFill>
                <a:srgbClr val="FF8810"/>
              </a:solidFill>
              <a:latin typeface="Times New Roman" panose="02020603050405020304" charset="0"/>
              <a:cs typeface="Times New Roman" panose="02020603050405020304" charset="0"/>
            </a:endParaRPr>
          </a:p>
          <a:p>
            <a:r>
              <a:rPr lang="en-US" sz="1800" b="1">
                <a:solidFill>
                  <a:srgbClr val="FF8810"/>
                </a:solidFill>
                <a:latin typeface="Times New Roman" panose="02020603050405020304" charset="0"/>
                <a:cs typeface="Times New Roman" panose="02020603050405020304" charset="0"/>
              </a:rPr>
              <a:t>Process:- </a:t>
            </a:r>
            <a:endParaRPr lang="en-US" sz="1800" b="1">
              <a:solidFill>
                <a:srgbClr val="FF8810"/>
              </a:solidFill>
              <a:latin typeface="Times New Roman" panose="02020603050405020304" charset="0"/>
              <a:cs typeface="Times New Roman" panose="02020603050405020304" charset="0"/>
            </a:endParaRPr>
          </a:p>
          <a:p>
            <a:pPr marL="0" indent="0">
              <a:buNone/>
            </a:pPr>
            <a:endParaRPr lang="en-US" sz="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First to count the blank values in column we use COUNTBLANK formula and find the blank value for the all columns.</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After that we calculate the percentage of blank value for every column. we simpally devide the blank value from the total number of values in the column. also convert that value into Percentage from the home tab.</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First, we drop the column which have more then 40% blank values.</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In column NAME_TYPE_SUIT we fill the missing values with “Unaccompained”.</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Also in column OCCUPATION_TYPE we fill the missing values with “Unknown”.</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For the columns with numbers we fill it with the Median value of the column.</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We use the Column chart for visualization for both chart.</a:t>
            </a:r>
            <a:endParaRPr lang="en-US" sz="18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A1"/>
          <p:cNvPicPr>
            <a:picLocks noChangeAspect="1"/>
          </p:cNvPicPr>
          <p:nvPr/>
        </p:nvPicPr>
        <p:blipFill>
          <a:blip r:embed="rId1"/>
          <a:srcRect l="10333" t="28192" r="22120" b="16222"/>
          <a:stretch>
            <a:fillRect/>
          </a:stretch>
        </p:blipFill>
        <p:spPr>
          <a:xfrm>
            <a:off x="864235" y="1099185"/>
            <a:ext cx="10531475" cy="4966970"/>
          </a:xfrm>
          <a:prstGeom prst="rect">
            <a:avLst/>
          </a:prstGeom>
        </p:spPr>
      </p:pic>
      <p:sp>
        <p:nvSpPr>
          <p:cNvPr id="5" name="Text Box 4"/>
          <p:cNvSpPr txBox="1"/>
          <p:nvPr/>
        </p:nvSpPr>
        <p:spPr>
          <a:xfrm>
            <a:off x="746760" y="278130"/>
            <a:ext cx="10648950" cy="720090"/>
          </a:xfrm>
          <a:prstGeom prst="rect">
            <a:avLst/>
          </a:prstGeom>
          <a:noFill/>
        </p:spPr>
        <p:txBody>
          <a:bodyPr wrap="square" rtlCol="0">
            <a:noAutofit/>
          </a:bodyPr>
          <a:p>
            <a:pPr marL="285750" indent="-285750">
              <a:buFont typeface="Wingdings" panose="05000000000000000000" charset="0"/>
              <a:buChar char="v"/>
            </a:pPr>
            <a:r>
              <a:rPr lang="en-US" b="1">
                <a:solidFill>
                  <a:srgbClr val="FF8810"/>
                </a:solidFill>
                <a:latin typeface="Times New Roman" panose="02020603050405020304" charset="0"/>
                <a:cs typeface="Times New Roman" panose="02020603050405020304" charset="0"/>
              </a:rPr>
              <a:t>The columns having More then 40% of blank:-</a:t>
            </a:r>
            <a:r>
              <a:rPr lang="en-US">
                <a:solidFill>
                  <a:srgbClr val="FF8810"/>
                </a:solidFill>
                <a:latin typeface="Times New Roman" panose="02020603050405020304" charset="0"/>
                <a:cs typeface="Times New Roman" panose="02020603050405020304" charset="0"/>
              </a:rPr>
              <a:t> </a:t>
            </a:r>
            <a:r>
              <a:rPr lang="en-US">
                <a:solidFill>
                  <a:schemeClr val="tx1"/>
                </a:solidFill>
                <a:latin typeface="Times New Roman" panose="02020603050405020304" charset="0"/>
                <a:cs typeface="Times New Roman" panose="02020603050405020304" charset="0"/>
              </a:rPr>
              <a:t>There are total 49 columns which have more then 40% of blank values.</a:t>
            </a:r>
            <a:r>
              <a:rPr lang="en-US">
                <a:solidFill>
                  <a:srgbClr val="FF8810"/>
                </a:solidFill>
                <a:latin typeface="Times New Roman" panose="02020603050405020304" charset="0"/>
                <a:cs typeface="Times New Roman" panose="02020603050405020304" charset="0"/>
              </a:rPr>
              <a:t> </a:t>
            </a:r>
            <a:r>
              <a:rPr lang="en-US">
                <a:solidFill>
                  <a:schemeClr val="tx1"/>
                </a:solidFill>
                <a:highlight>
                  <a:srgbClr val="FFFF00"/>
                </a:highlight>
                <a:latin typeface="Times New Roman" panose="02020603050405020304" charset="0"/>
                <a:cs typeface="Times New Roman" panose="02020603050405020304" charset="0"/>
              </a:rPr>
              <a:t>* We drop the columns which have more then 40% blanks</a:t>
            </a:r>
            <a:endParaRPr lang="en-US">
              <a:solidFill>
                <a:schemeClr val="tx1"/>
              </a:solidFill>
              <a:highlight>
                <a:srgbClr val="FFFF00"/>
              </a:highlight>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A2"/>
          <p:cNvPicPr>
            <a:picLocks noChangeAspect="1"/>
          </p:cNvPicPr>
          <p:nvPr/>
        </p:nvPicPr>
        <p:blipFill>
          <a:blip r:embed="rId1"/>
          <a:srcRect l="5885" t="34816" r="11182" b="15796"/>
          <a:stretch>
            <a:fillRect/>
          </a:stretch>
        </p:blipFill>
        <p:spPr>
          <a:xfrm>
            <a:off x="440055" y="1114425"/>
            <a:ext cx="11252200" cy="4497705"/>
          </a:xfrm>
          <a:prstGeom prst="rect">
            <a:avLst/>
          </a:prstGeom>
        </p:spPr>
      </p:pic>
      <p:sp>
        <p:nvSpPr>
          <p:cNvPr id="5" name="Text Box 4"/>
          <p:cNvSpPr txBox="1"/>
          <p:nvPr/>
        </p:nvSpPr>
        <p:spPr>
          <a:xfrm>
            <a:off x="702945" y="189865"/>
            <a:ext cx="10726420" cy="645160"/>
          </a:xfrm>
          <a:prstGeom prst="rect">
            <a:avLst/>
          </a:prstGeom>
          <a:noFill/>
        </p:spPr>
        <p:txBody>
          <a:bodyPr wrap="square" rtlCol="0">
            <a:spAutoFit/>
          </a:bodyPr>
          <a:p>
            <a:pPr marL="285750" indent="-285750">
              <a:buFont typeface="Wingdings" panose="05000000000000000000" charset="0"/>
              <a:buChar char="v"/>
            </a:pPr>
            <a:r>
              <a:rPr lang="en-US" b="1">
                <a:solidFill>
                  <a:srgbClr val="FF8810"/>
                </a:solidFill>
                <a:latin typeface="Times New Roman" panose="02020603050405020304" charset="0"/>
                <a:cs typeface="Times New Roman" panose="02020603050405020304" charset="0"/>
              </a:rPr>
              <a:t>The columns having less then 40% blanks:-</a:t>
            </a:r>
            <a:r>
              <a:rPr lang="en-US">
                <a:latin typeface="Times New Roman" panose="02020603050405020304" charset="0"/>
                <a:cs typeface="Times New Roman" panose="02020603050405020304" charset="0"/>
              </a:rPr>
              <a:t> There are total 8 columns which have less then 40% of blank values.</a:t>
            </a:r>
            <a:endParaRPr lang="en-US">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Title 9"/>
          <p:cNvSpPr>
            <a:spLocks noGrp="1"/>
          </p:cNvSpPr>
          <p:nvPr>
            <p:ph type="title"/>
          </p:nvPr>
        </p:nvSpPr>
        <p:spPr>
          <a:xfrm>
            <a:off x="609600" y="190500"/>
            <a:ext cx="10972800" cy="1056005"/>
          </a:xfrm>
        </p:spPr>
        <p:txBody>
          <a:bodyPr/>
          <a:p>
            <a:r>
              <a:rPr lang="en-US" sz="1800" b="1">
                <a:solidFill>
                  <a:srgbClr val="FF8810"/>
                </a:solidFill>
                <a:latin typeface="Times New Roman" panose="02020603050405020304" charset="0"/>
                <a:cs typeface="Times New Roman" panose="02020603050405020304" charset="0"/>
                <a:sym typeface="+mn-ea"/>
              </a:rPr>
              <a:t>B) Identify Outliners in the Dataset:-</a:t>
            </a:r>
            <a:r>
              <a:rPr lang="en-US" sz="1800">
                <a:latin typeface="Times New Roman" panose="02020603050405020304" charset="0"/>
                <a:cs typeface="Times New Roman" panose="02020603050405020304" charset="0"/>
                <a:sym typeface="+mn-ea"/>
              </a:rPr>
              <a:t> Outliners can significantly impact the analysis and distort the results. you need to identify outliner in the loan application dataset.</a:t>
            </a:r>
            <a:br>
              <a:rPr lang="en-US" sz="1800">
                <a:latin typeface="Times New Roman" panose="02020603050405020304" charset="0"/>
                <a:cs typeface="Times New Roman" panose="02020603050405020304" charset="0"/>
              </a:rPr>
            </a:br>
            <a:r>
              <a:rPr lang="en-US" sz="1800">
                <a:latin typeface="Times New Roman" panose="02020603050405020304" charset="0"/>
                <a:cs typeface="Times New Roman" panose="02020603050405020304" charset="0"/>
                <a:sym typeface="+mn-ea"/>
              </a:rPr>
              <a:t>    </a:t>
            </a:r>
            <a:r>
              <a:rPr lang="en-US" sz="1800" b="1">
                <a:solidFill>
                  <a:srgbClr val="FF8810"/>
                </a:solidFill>
                <a:latin typeface="Times New Roman" panose="02020603050405020304" charset="0"/>
                <a:cs typeface="Times New Roman" panose="02020603050405020304" charset="0"/>
                <a:sym typeface="+mn-ea"/>
              </a:rPr>
              <a:t> Task:-</a:t>
            </a:r>
            <a:r>
              <a:rPr lang="en-US" sz="1800">
                <a:latin typeface="Times New Roman" panose="02020603050405020304" charset="0"/>
                <a:cs typeface="Times New Roman" panose="02020603050405020304" charset="0"/>
                <a:sym typeface="+mn-ea"/>
              </a:rPr>
              <a:t> Detect and identift outliners in the dataset using Excel statistical function and features, focusing on numberical variables.</a:t>
            </a:r>
            <a:endParaRPr lang="en-US" sz="1800">
              <a:latin typeface="Times New Roman" panose="02020603050405020304" charset="0"/>
              <a:cs typeface="Times New Roman" panose="02020603050405020304" charset="0"/>
            </a:endParaRPr>
          </a:p>
        </p:txBody>
      </p:sp>
      <p:sp>
        <p:nvSpPr>
          <p:cNvPr id="11" name="Content Placeholder 10"/>
          <p:cNvSpPr/>
          <p:nvPr>
            <p:ph sz="half" idx="1"/>
          </p:nvPr>
        </p:nvSpPr>
        <p:spPr>
          <a:xfrm>
            <a:off x="609600" y="1569720"/>
            <a:ext cx="10835640" cy="2758440"/>
          </a:xfrm>
        </p:spPr>
        <p:txBody>
          <a:bodyPr/>
          <a:p>
            <a:r>
              <a:rPr lang="en-US" sz="1800" b="1">
                <a:solidFill>
                  <a:srgbClr val="FF8810"/>
                </a:solidFill>
                <a:latin typeface="Times New Roman" panose="02020603050405020304" charset="0"/>
                <a:cs typeface="Times New Roman" panose="02020603050405020304" charset="0"/>
              </a:rPr>
              <a:t>Process:-</a:t>
            </a:r>
            <a:endParaRPr lang="en-US" sz="1800" b="1">
              <a:solidFill>
                <a:srgbClr val="FF8810"/>
              </a:solidFill>
              <a:latin typeface="Times New Roman" panose="02020603050405020304" charset="0"/>
              <a:cs typeface="Times New Roman" panose="02020603050405020304" charset="0"/>
            </a:endParaRPr>
          </a:p>
          <a:p>
            <a:pPr marL="0" indent="0">
              <a:buNone/>
            </a:pP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First we take data on another sheet, then we use the QUARTILE formula for the 1st quart and call it Q1.</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After that we use QUARTILE formula for 3rd quart and call it Q2.</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After that we find Inter Quartial Range (IQR). </a:t>
            </a:r>
            <a:r>
              <a:rPr lang="en-US" sz="1800">
                <a:highlight>
                  <a:srgbClr val="FFFF00"/>
                </a:highlight>
                <a:latin typeface="Times New Roman" panose="02020603050405020304" charset="0"/>
                <a:cs typeface="Times New Roman" panose="02020603050405020304" charset="0"/>
              </a:rPr>
              <a:t>IQR=Q3-Q1</a:t>
            </a:r>
            <a:endParaRPr lang="en-US" sz="1800">
              <a:highlight>
                <a:srgbClr val="FFFF00"/>
              </a:highlight>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Lastly we find the Upper Limit and Lower limit.</a:t>
            </a:r>
            <a:endParaRPr lang="en-US" sz="18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rPr>
              <a:t>        </a:t>
            </a:r>
            <a:r>
              <a:rPr lang="en-US" sz="1800">
                <a:highlight>
                  <a:srgbClr val="FFFF00"/>
                </a:highlight>
                <a:latin typeface="Times New Roman" panose="02020603050405020304" charset="0"/>
                <a:cs typeface="Times New Roman" panose="02020603050405020304" charset="0"/>
              </a:rPr>
              <a:t>UPPER LIMIT= Q3+(1.5*IQR) </a:t>
            </a:r>
            <a:r>
              <a:rPr lang="en-US" sz="1800">
                <a:latin typeface="Times New Roman" panose="02020603050405020304" charset="0"/>
                <a:cs typeface="Times New Roman" panose="02020603050405020304" charset="0"/>
              </a:rPr>
              <a:t>     </a:t>
            </a:r>
            <a:r>
              <a:rPr lang="en-US" sz="1800">
                <a:highlight>
                  <a:srgbClr val="FFFF00"/>
                </a:highlight>
                <a:latin typeface="Times New Roman" panose="02020603050405020304" charset="0"/>
                <a:cs typeface="Times New Roman" panose="02020603050405020304" charset="0"/>
              </a:rPr>
              <a:t>LOWER LIMIT=Q1-(1.5*IQR)</a:t>
            </a:r>
            <a:endParaRPr lang="en-US" sz="1800">
              <a:highlight>
                <a:srgbClr val="FFFF00"/>
              </a:highlight>
              <a:latin typeface="Times New Roman" panose="02020603050405020304" charset="0"/>
              <a:cs typeface="Times New Roman" panose="02020603050405020304" charset="0"/>
            </a:endParaRPr>
          </a:p>
          <a:p>
            <a:pPr>
              <a:buFont typeface="Arial" panose="020B0604020202020204" pitchFamily="34" charset="0"/>
              <a:buChar char="•"/>
            </a:pPr>
            <a:r>
              <a:rPr lang="en-US" sz="1800">
                <a:latin typeface="Times New Roman" panose="02020603050405020304" charset="0"/>
                <a:cs typeface="Times New Roman" panose="02020603050405020304" charset="0"/>
              </a:rPr>
              <a:t>We use the Scatter Plot chart for Visualization.</a:t>
            </a:r>
            <a:endParaRPr lang="en-US" sz="1800">
              <a:latin typeface="Times New Roman" panose="02020603050405020304" charset="0"/>
              <a:cs typeface="Times New Roman" panose="02020603050405020304" charset="0"/>
            </a:endParaRPr>
          </a:p>
        </p:txBody>
      </p:sp>
      <p:pic>
        <p:nvPicPr>
          <p:cNvPr id="2" name="Content Placeholder 1" descr="B1"/>
          <p:cNvPicPr>
            <a:picLocks noChangeAspect="1"/>
          </p:cNvPicPr>
          <p:nvPr>
            <p:ph sz="half" idx="2"/>
          </p:nvPr>
        </p:nvPicPr>
        <p:blipFill>
          <a:blip r:embed="rId1"/>
          <a:srcRect l="5321" t="31878" r="7614" b="54686"/>
          <a:stretch>
            <a:fillRect/>
          </a:stretch>
        </p:blipFill>
        <p:spPr>
          <a:xfrm>
            <a:off x="221615" y="4328795"/>
            <a:ext cx="11748770" cy="16097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B2"/>
          <p:cNvPicPr>
            <a:picLocks noChangeAspect="1"/>
          </p:cNvPicPr>
          <p:nvPr/>
        </p:nvPicPr>
        <p:blipFill>
          <a:blip r:embed="rId1"/>
          <a:srcRect l="17667" t="29044" r="25006" b="11525"/>
          <a:stretch>
            <a:fillRect/>
          </a:stretch>
        </p:blipFill>
        <p:spPr>
          <a:xfrm>
            <a:off x="505460" y="114300"/>
            <a:ext cx="11216640" cy="59112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329055"/>
          </a:xfrm>
        </p:spPr>
        <p:txBody>
          <a:bodyPr/>
          <a:p>
            <a:r>
              <a:rPr lang="en-US" sz="1800" b="1">
                <a:solidFill>
                  <a:srgbClr val="FF8810"/>
                </a:solidFill>
                <a:latin typeface="Times New Roman" panose="02020603050405020304" charset="0"/>
                <a:cs typeface="Times New Roman" panose="02020603050405020304" charset="0"/>
                <a:sym typeface="+mn-ea"/>
              </a:rPr>
              <a:t>C) Analyze Data Imbalance:-</a:t>
            </a:r>
            <a:r>
              <a:rPr lang="en-US" sz="1800">
                <a:solidFill>
                  <a:srgbClr val="FF8810"/>
                </a:solidFill>
                <a:latin typeface="Times New Roman" panose="02020603050405020304" charset="0"/>
                <a:cs typeface="Times New Roman" panose="02020603050405020304" charset="0"/>
                <a:sym typeface="+mn-ea"/>
              </a:rPr>
              <a:t> </a:t>
            </a:r>
            <a:r>
              <a:rPr lang="en-US" sz="1800">
                <a:latin typeface="Times New Roman" panose="02020603050405020304" charset="0"/>
                <a:cs typeface="Times New Roman" panose="02020603050405020304" charset="0"/>
                <a:sym typeface="+mn-ea"/>
              </a:rPr>
              <a:t>Data imbalance can affect the accuracy of the analysis, especially for binary classification problems.</a:t>
            </a:r>
            <a:br>
              <a:rPr lang="en-US" sz="1800">
                <a:latin typeface="Times New Roman" panose="02020603050405020304" charset="0"/>
                <a:cs typeface="Times New Roman" panose="02020603050405020304" charset="0"/>
              </a:rPr>
            </a:br>
            <a:r>
              <a:rPr lang="en-US" sz="1800">
                <a:latin typeface="Times New Roman" panose="02020603050405020304" charset="0"/>
                <a:cs typeface="Times New Roman" panose="02020603050405020304" charset="0"/>
                <a:sym typeface="+mn-ea"/>
              </a:rPr>
              <a:t>    </a:t>
            </a:r>
            <a:r>
              <a:rPr lang="en-US" sz="1800" b="1">
                <a:solidFill>
                  <a:srgbClr val="FF8810"/>
                </a:solidFill>
                <a:latin typeface="Times New Roman" panose="02020603050405020304" charset="0"/>
                <a:cs typeface="Times New Roman" panose="02020603050405020304" charset="0"/>
                <a:sym typeface="+mn-ea"/>
              </a:rPr>
              <a:t>Task:-</a:t>
            </a:r>
            <a:r>
              <a:rPr lang="en-US" sz="1800">
                <a:latin typeface="Times New Roman" panose="02020603050405020304" charset="0"/>
                <a:cs typeface="Times New Roman" panose="02020603050405020304" charset="0"/>
                <a:sym typeface="+mn-ea"/>
              </a:rPr>
              <a:t> Determine if there is data imbalance in dataset and calculate ratio of data imbalance using Excel function.</a:t>
            </a:r>
            <a:endParaRPr lang="en-US" sz="1800">
              <a:latin typeface="Times New Roman" panose="02020603050405020304" charset="0"/>
              <a:cs typeface="Times New Roman" panose="02020603050405020304" charset="0"/>
            </a:endParaRPr>
          </a:p>
        </p:txBody>
      </p:sp>
      <p:sp>
        <p:nvSpPr>
          <p:cNvPr id="5" name="Content Placeholder 4"/>
          <p:cNvSpPr>
            <a:spLocks noGrp="1"/>
          </p:cNvSpPr>
          <p:nvPr>
            <p:ph idx="1"/>
          </p:nvPr>
        </p:nvSpPr>
        <p:spPr>
          <a:xfrm>
            <a:off x="609600" y="1758950"/>
            <a:ext cx="10972800" cy="3812540"/>
          </a:xfrm>
        </p:spPr>
        <p:txBody>
          <a:bodyPr/>
          <a:p>
            <a:r>
              <a:rPr lang="en-US" sz="1800" b="1">
                <a:solidFill>
                  <a:srgbClr val="FF8810"/>
                </a:solidFill>
                <a:latin typeface="Times New Roman" panose="02020603050405020304" charset="0"/>
                <a:cs typeface="Times New Roman" panose="02020603050405020304" charset="0"/>
              </a:rPr>
              <a:t>Process:-</a:t>
            </a:r>
            <a:endParaRPr lang="en-US" sz="1800" b="1">
              <a:solidFill>
                <a:srgbClr val="FF8810"/>
              </a:solidFill>
              <a:latin typeface="Times New Roman" panose="02020603050405020304" charset="0"/>
              <a:cs typeface="Times New Roman" panose="02020603050405020304" charset="0"/>
            </a:endParaRPr>
          </a:p>
          <a:p>
            <a:pPr marL="0" indent="0">
              <a:buNone/>
            </a:pPr>
            <a:endParaRPr lang="en-US" sz="10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For finding data imbalance we use the Target column. so, we copy column to another sheet.</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We use the COUNTIFS formula to find the Defaulter and Non-Defaulter.</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In target collume 0 indicates Non-Defaulters customers and 1 indicate Defaulter customers.</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We can also use Pivot table. placing Target in Rows and the Count of Target into Values.</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Now, we find the maximum and minimum value in count of target colume by using MAX and MIN formula.</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After that we devide the MIN by MAX and we will get the Ration of Imbalance.</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Lastly we use the Pie Chart to visulization of chart.</a:t>
            </a:r>
            <a:endParaRPr lang="en-US" sz="1800">
              <a:latin typeface="Times New Roman" panose="02020603050405020304" charset="0"/>
              <a:cs typeface="Times New Roman" panose="02020603050405020304" charset="0"/>
            </a:endParaRPr>
          </a:p>
          <a:p>
            <a:pPr marL="0" indent="0">
              <a:buNone/>
            </a:pPr>
            <a:endParaRPr lang="en-US" sz="18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00075" y="321945"/>
            <a:ext cx="7048500" cy="368300"/>
          </a:xfrm>
          <a:prstGeom prst="rect">
            <a:avLst/>
          </a:prstGeom>
          <a:noFill/>
        </p:spPr>
        <p:txBody>
          <a:bodyPr wrap="square" rtlCol="0">
            <a:spAutoFit/>
          </a:bodyPr>
          <a:p>
            <a:pPr marL="285750" indent="-285750">
              <a:buFont typeface="Wingdings" panose="05000000000000000000" charset="0"/>
              <a:buChar char="v"/>
            </a:pPr>
            <a:r>
              <a:rPr lang="en-US">
                <a:solidFill>
                  <a:srgbClr val="FF8810"/>
                </a:solidFill>
                <a:latin typeface="Times New Roman" panose="02020603050405020304" charset="0"/>
                <a:cs typeface="Times New Roman" panose="02020603050405020304" charset="0"/>
              </a:rPr>
              <a:t>Result:-</a:t>
            </a:r>
            <a:r>
              <a:rPr lang="en-US">
                <a:latin typeface="Times New Roman" panose="02020603050405020304" charset="0"/>
                <a:cs typeface="Times New Roman" panose="02020603050405020304" charset="0"/>
              </a:rPr>
              <a:t> The Ratio </a:t>
            </a:r>
            <a:r>
              <a:rPr lang="en-US">
                <a:latin typeface="Times New Roman" panose="02020603050405020304" charset="0"/>
                <a:cs typeface="Times New Roman" panose="02020603050405020304" charset="0"/>
              </a:rPr>
              <a:t>Of Imbalance is </a:t>
            </a:r>
            <a:r>
              <a:rPr lang="en-US">
                <a:highlight>
                  <a:srgbClr val="FFFF00"/>
                </a:highlight>
                <a:latin typeface="Times New Roman" panose="02020603050405020304" charset="0"/>
                <a:cs typeface="Times New Roman" panose="02020603050405020304" charset="0"/>
              </a:rPr>
              <a:t>0.09.</a:t>
            </a:r>
            <a:endParaRPr lang="en-US">
              <a:highlight>
                <a:srgbClr val="FFFF00"/>
              </a:highlight>
              <a:latin typeface="Times New Roman" panose="02020603050405020304" charset="0"/>
              <a:cs typeface="Times New Roman" panose="02020603050405020304" charset="0"/>
            </a:endParaRPr>
          </a:p>
        </p:txBody>
      </p:sp>
      <p:pic>
        <p:nvPicPr>
          <p:cNvPr id="5" name="Picture 4" descr="C1"/>
          <p:cNvPicPr>
            <a:picLocks noChangeAspect="1"/>
          </p:cNvPicPr>
          <p:nvPr/>
        </p:nvPicPr>
        <p:blipFill>
          <a:blip r:embed="rId1"/>
          <a:srcRect l="25716" t="28064" r="36957" b="14517"/>
          <a:stretch>
            <a:fillRect/>
          </a:stretch>
        </p:blipFill>
        <p:spPr>
          <a:xfrm>
            <a:off x="3003550" y="835025"/>
            <a:ext cx="6110605" cy="52012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777365"/>
          </a:xfrm>
        </p:spPr>
        <p:txBody>
          <a:bodyPr/>
          <a:p>
            <a:r>
              <a:rPr lang="en-US" sz="1800" b="1">
                <a:solidFill>
                  <a:srgbClr val="FF8810"/>
                </a:solidFill>
                <a:latin typeface="Times New Roman" panose="02020603050405020304" charset="0"/>
                <a:cs typeface="Times New Roman" panose="02020603050405020304" charset="0"/>
                <a:sym typeface="+mn-ea"/>
              </a:rPr>
              <a:t>D) Perform Univarite, Segmented Univariate and Bivariate Analysis:-</a:t>
            </a:r>
            <a:r>
              <a:rPr lang="en-US" sz="1800" b="1">
                <a:latin typeface="Times New Roman" panose="02020603050405020304" charset="0"/>
                <a:cs typeface="Times New Roman" panose="02020603050405020304" charset="0"/>
                <a:sym typeface="+mn-ea"/>
              </a:rPr>
              <a:t> </a:t>
            </a:r>
            <a:r>
              <a:rPr lang="en-US" sz="1800">
                <a:latin typeface="Times New Roman" panose="02020603050405020304" charset="0"/>
                <a:cs typeface="Times New Roman" panose="02020603050405020304" charset="0"/>
                <a:sym typeface="+mn-ea"/>
              </a:rPr>
              <a:t>To gain insight into the driving factors of loan default, it is important to conduct various analysis on cousumer and loan attributes.</a:t>
            </a:r>
            <a:br>
              <a:rPr lang="en-US" sz="1800">
                <a:latin typeface="Times New Roman" panose="02020603050405020304" charset="0"/>
                <a:cs typeface="Times New Roman" panose="02020603050405020304" charset="0"/>
              </a:rPr>
            </a:br>
            <a:r>
              <a:rPr lang="en-US" sz="1800">
                <a:latin typeface="Times New Roman" panose="02020603050405020304" charset="0"/>
                <a:cs typeface="Times New Roman" panose="02020603050405020304" charset="0"/>
                <a:sym typeface="+mn-ea"/>
              </a:rPr>
              <a:t>    </a:t>
            </a:r>
            <a:r>
              <a:rPr lang="en-US" sz="1800">
                <a:solidFill>
                  <a:srgbClr val="FF8810"/>
                </a:solidFill>
                <a:latin typeface="Times New Roman" panose="02020603050405020304" charset="0"/>
                <a:cs typeface="Times New Roman" panose="02020603050405020304" charset="0"/>
                <a:sym typeface="+mn-ea"/>
              </a:rPr>
              <a:t> </a:t>
            </a:r>
            <a:r>
              <a:rPr lang="en-US" sz="1800" b="1">
                <a:solidFill>
                  <a:srgbClr val="FF8810"/>
                </a:solidFill>
                <a:latin typeface="Times New Roman" panose="02020603050405020304" charset="0"/>
                <a:cs typeface="Times New Roman" panose="02020603050405020304" charset="0"/>
                <a:sym typeface="+mn-ea"/>
              </a:rPr>
              <a:t>Task:- </a:t>
            </a:r>
            <a:r>
              <a:rPr lang="en-US" sz="1800">
                <a:latin typeface="Times New Roman" panose="02020603050405020304" charset="0"/>
                <a:cs typeface="Times New Roman" panose="02020603050405020304" charset="0"/>
                <a:sym typeface="+mn-ea"/>
              </a:rPr>
              <a:t>Perform univariate analysis to understand the distribution of individual variables, segmented univariate analysis to </a:t>
            </a:r>
            <a:r>
              <a:rPr lang="en-US" sz="1800">
                <a:latin typeface="Times New Roman" panose="02020603050405020304" charset="0"/>
                <a:cs typeface="Times New Roman" panose="02020603050405020304" charset="0"/>
                <a:sym typeface="+mn-ea"/>
              </a:rPr>
              <a:t>compare variabledistributions for different scenarios, and bivariate analysis to explore relationship between variables and the target variable using Excel Functions and features.</a:t>
            </a:r>
            <a:br>
              <a:rPr lang="en-US" sz="1800">
                <a:latin typeface="Times New Roman" panose="02020603050405020304" charset="0"/>
                <a:cs typeface="Times New Roman" panose="02020603050405020304" charset="0"/>
                <a:sym typeface="+mn-ea"/>
              </a:rPr>
            </a:br>
            <a:endParaRPr lang="en-US" sz="1800">
              <a:latin typeface="Times New Roman" panose="02020603050405020304" charset="0"/>
              <a:cs typeface="Times New Roman" panose="02020603050405020304" charset="0"/>
            </a:endParaRPr>
          </a:p>
        </p:txBody>
      </p:sp>
      <p:sp>
        <p:nvSpPr>
          <p:cNvPr id="5" name="Content Placeholder 4"/>
          <p:cNvSpPr>
            <a:spLocks noGrp="1"/>
          </p:cNvSpPr>
          <p:nvPr>
            <p:ph sz="half" idx="1"/>
          </p:nvPr>
        </p:nvSpPr>
        <p:spPr>
          <a:xfrm>
            <a:off x="609600" y="1762760"/>
            <a:ext cx="11142980" cy="1492885"/>
          </a:xfrm>
        </p:spPr>
        <p:txBody>
          <a:bodyPr/>
          <a:p>
            <a:r>
              <a:rPr lang="en-US" sz="1800" b="1">
                <a:solidFill>
                  <a:srgbClr val="FF8810"/>
                </a:solidFill>
                <a:latin typeface="Times New Roman" panose="02020603050405020304" charset="0"/>
                <a:cs typeface="Times New Roman" panose="02020603050405020304" charset="0"/>
              </a:rPr>
              <a:t>Process:-</a:t>
            </a:r>
            <a:endParaRPr lang="en-US" sz="1800" b="1">
              <a:solidFill>
                <a:srgbClr val="FF8810"/>
              </a:solidFill>
              <a:latin typeface="Times New Roman" panose="02020603050405020304" charset="0"/>
              <a:cs typeface="Times New Roman" panose="02020603050405020304" charset="0"/>
            </a:endParaRPr>
          </a:p>
          <a:p>
            <a:r>
              <a:rPr lang="en-US" sz="1800" b="1">
                <a:solidFill>
                  <a:srgbClr val="FF8810"/>
                </a:solidFill>
                <a:latin typeface="Times New Roman" panose="02020603050405020304" charset="0"/>
                <a:cs typeface="Times New Roman" panose="02020603050405020304" charset="0"/>
              </a:rPr>
              <a:t>Univarite Analysis:-</a:t>
            </a:r>
            <a:endParaRPr lang="en-US" sz="1800" b="1">
              <a:solidFill>
                <a:srgbClr val="FF8810"/>
              </a:solidFill>
              <a:latin typeface="Times New Roman" panose="02020603050405020304" charset="0"/>
              <a:cs typeface="Times New Roman" panose="02020603050405020304" charset="0"/>
            </a:endParaRPr>
          </a:p>
          <a:p>
            <a:pPr marL="0" indent="0">
              <a:buNone/>
            </a:pPr>
            <a:r>
              <a:rPr lang="en-US" sz="1800" b="1">
                <a:solidFill>
                  <a:srgbClr val="FF8810"/>
                </a:solidFill>
                <a:latin typeface="Times New Roman" panose="02020603050405020304" charset="0"/>
                <a:cs typeface="Times New Roman" panose="02020603050405020304" charset="0"/>
              </a:rPr>
              <a:t>1) Gender Analysis:-</a:t>
            </a:r>
            <a:r>
              <a:rPr lang="en-US" sz="1800">
                <a:latin typeface="Times New Roman" panose="02020603050405020304" charset="0"/>
                <a:cs typeface="Times New Roman" panose="02020603050405020304" charset="0"/>
              </a:rPr>
              <a:t> </a:t>
            </a:r>
            <a:r>
              <a:rPr lang="en-US" sz="1800">
                <a:highlight>
                  <a:srgbClr val="FFFF00"/>
                </a:highlight>
                <a:latin typeface="Times New Roman" panose="02020603050405020304" charset="0"/>
                <a:cs typeface="Times New Roman" panose="02020603050405020304" charset="0"/>
              </a:rPr>
              <a:t>*The more number of Females taken lone then the Males but % Defaulters in female is more.</a:t>
            </a:r>
            <a:endParaRPr lang="en-US" sz="18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rPr>
              <a:t>                                   </a:t>
            </a:r>
            <a:r>
              <a:rPr lang="en-US" sz="1800">
                <a:highlight>
                  <a:srgbClr val="FFFF00"/>
                </a:highlight>
                <a:latin typeface="Times New Roman" panose="02020603050405020304" charset="0"/>
                <a:cs typeface="Times New Roman" panose="02020603050405020304" charset="0"/>
              </a:rPr>
              <a:t>*Male have less % of Defaulters.</a:t>
            </a:r>
            <a:endParaRPr lang="en-US" sz="18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rPr>
              <a:t>                                  </a:t>
            </a:r>
            <a:endParaRPr lang="en-US" sz="1800">
              <a:latin typeface="Times New Roman" panose="02020603050405020304" charset="0"/>
              <a:cs typeface="Times New Roman" panose="02020603050405020304" charset="0"/>
            </a:endParaRPr>
          </a:p>
        </p:txBody>
      </p:sp>
      <p:pic>
        <p:nvPicPr>
          <p:cNvPr id="7" name="Content Placeholder 6" descr="D1"/>
          <p:cNvPicPr>
            <a:picLocks noChangeAspect="1"/>
          </p:cNvPicPr>
          <p:nvPr>
            <p:ph sz="half" idx="2"/>
          </p:nvPr>
        </p:nvPicPr>
        <p:blipFill>
          <a:blip r:embed="rId1"/>
          <a:srcRect l="19328" t="30543" r="20802" b="18146"/>
          <a:stretch>
            <a:fillRect/>
          </a:stretch>
        </p:blipFill>
        <p:spPr>
          <a:xfrm>
            <a:off x="923290" y="3124835"/>
            <a:ext cx="9877425" cy="35693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095375"/>
          </a:xfrm>
        </p:spPr>
        <p:txBody>
          <a:bodyPr/>
          <a:p>
            <a:r>
              <a:rPr lang="en-US" sz="1800">
                <a:solidFill>
                  <a:srgbClr val="FF8810"/>
                </a:solidFill>
                <a:latin typeface="Times New Roman" panose="02020603050405020304" charset="0"/>
                <a:cs typeface="Times New Roman" panose="02020603050405020304" charset="0"/>
              </a:rPr>
              <a:t>2) Age Analysis:- </a:t>
            </a:r>
            <a:r>
              <a:rPr lang="en-US" sz="1800">
                <a:solidFill>
                  <a:schemeClr val="tx1"/>
                </a:solidFill>
                <a:highlight>
                  <a:srgbClr val="FFFF00"/>
                </a:highlight>
                <a:latin typeface="Times New Roman" panose="02020603050405020304" charset="0"/>
                <a:cs typeface="Times New Roman" panose="02020603050405020304" charset="0"/>
              </a:rPr>
              <a:t>*The macimum number of loan is taken by Younger people, followed by Mid Age then Older.</a:t>
            </a:r>
            <a:br>
              <a:rPr lang="en-US" sz="1800">
                <a:solidFill>
                  <a:schemeClr val="tx1"/>
                </a:solidFill>
                <a:highlight>
                  <a:srgbClr val="FFFF00"/>
                </a:highlight>
                <a:latin typeface="Times New Roman" panose="02020603050405020304" charset="0"/>
                <a:cs typeface="Times New Roman" panose="02020603050405020304" charset="0"/>
              </a:rPr>
            </a:br>
            <a:r>
              <a:rPr lang="en-US" sz="1800">
                <a:solidFill>
                  <a:schemeClr val="tx1"/>
                </a:solidFill>
                <a:latin typeface="Times New Roman" panose="02020603050405020304" charset="0"/>
                <a:cs typeface="Times New Roman" panose="02020603050405020304" charset="0"/>
              </a:rPr>
              <a:t>                             </a:t>
            </a:r>
            <a:r>
              <a:rPr lang="en-US" sz="1800">
                <a:solidFill>
                  <a:schemeClr val="tx1"/>
                </a:solidFill>
                <a:highlight>
                  <a:srgbClr val="FFFF00"/>
                </a:highlight>
                <a:latin typeface="Times New Roman" panose="02020603050405020304" charset="0"/>
                <a:cs typeface="Times New Roman" panose="02020603050405020304" charset="0"/>
              </a:rPr>
              <a:t>*Also the % of Defaulter is large in Younger people. </a:t>
            </a:r>
            <a:br>
              <a:rPr lang="en-US" sz="1800">
                <a:solidFill>
                  <a:schemeClr val="tx1"/>
                </a:solidFill>
                <a:highlight>
                  <a:srgbClr val="FFFF00"/>
                </a:highlight>
                <a:latin typeface="Times New Roman" panose="02020603050405020304" charset="0"/>
                <a:cs typeface="Times New Roman" panose="02020603050405020304" charset="0"/>
              </a:rPr>
            </a:br>
            <a:r>
              <a:rPr lang="en-US" sz="1800">
                <a:solidFill>
                  <a:schemeClr val="tx1"/>
                </a:solidFill>
                <a:latin typeface="Times New Roman" panose="02020603050405020304" charset="0"/>
                <a:cs typeface="Times New Roman" panose="02020603050405020304" charset="0"/>
              </a:rPr>
              <a:t>                            </a:t>
            </a:r>
            <a:r>
              <a:rPr lang="en-US" sz="1800">
                <a:solidFill>
                  <a:schemeClr val="tx1"/>
                </a:solidFill>
                <a:highlight>
                  <a:srgbClr val="FFFF00"/>
                </a:highlight>
                <a:latin typeface="Times New Roman" panose="02020603050405020304" charset="0"/>
                <a:cs typeface="Times New Roman" panose="02020603050405020304" charset="0"/>
              </a:rPr>
              <a:t> *There is very mininun % of lone taken Old people.</a:t>
            </a:r>
            <a:endParaRPr lang="en-US" sz="1800">
              <a:solidFill>
                <a:schemeClr val="tx1"/>
              </a:solidFill>
              <a:highlight>
                <a:srgbClr val="FFFF00"/>
              </a:highlight>
              <a:latin typeface="Times New Roman" panose="02020603050405020304" charset="0"/>
              <a:cs typeface="Times New Roman" panose="02020603050405020304" charset="0"/>
            </a:endParaRPr>
          </a:p>
        </p:txBody>
      </p:sp>
      <p:pic>
        <p:nvPicPr>
          <p:cNvPr id="6" name="Content Placeholder 5" descr="D2"/>
          <p:cNvPicPr>
            <a:picLocks noChangeAspect="1"/>
          </p:cNvPicPr>
          <p:nvPr>
            <p:ph idx="1"/>
          </p:nvPr>
        </p:nvPicPr>
        <p:blipFill>
          <a:blip r:embed="rId1"/>
          <a:srcRect l="12737" t="28936" r="32704" b="13667"/>
          <a:stretch>
            <a:fillRect/>
          </a:stretch>
        </p:blipFill>
        <p:spPr>
          <a:xfrm>
            <a:off x="609600" y="1373505"/>
            <a:ext cx="10884535" cy="46196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751840"/>
          </a:xfrm>
        </p:spPr>
        <p:txBody>
          <a:bodyPr/>
          <a:p>
            <a:r>
              <a:rPr lang="en-US" sz="1800">
                <a:solidFill>
                  <a:srgbClr val="FF8810"/>
                </a:solidFill>
                <a:latin typeface="Times New Roman" panose="02020603050405020304" charset="0"/>
                <a:cs typeface="Times New Roman" panose="02020603050405020304" charset="0"/>
              </a:rPr>
              <a:t>3) Family Status Analysis:-</a:t>
            </a:r>
            <a:r>
              <a:rPr lang="en-US" sz="1800">
                <a:latin typeface="Times New Roman" panose="02020603050405020304" charset="0"/>
                <a:cs typeface="Times New Roman" panose="02020603050405020304" charset="0"/>
              </a:rPr>
              <a:t> </a:t>
            </a:r>
            <a:r>
              <a:rPr lang="en-US" sz="1800">
                <a:highlight>
                  <a:srgbClr val="FFFF00"/>
                </a:highlight>
                <a:latin typeface="Times New Roman" panose="02020603050405020304" charset="0"/>
                <a:cs typeface="Times New Roman" panose="02020603050405020304" charset="0"/>
              </a:rPr>
              <a:t>*The % Defaulter is more in the Married and Seperated peoples.</a:t>
            </a:r>
            <a:br>
              <a:rPr lang="en-US" sz="1800">
                <a:latin typeface="Times New Roman" panose="02020603050405020304" charset="0"/>
                <a:cs typeface="Times New Roman" panose="02020603050405020304" charset="0"/>
              </a:rPr>
            </a:br>
            <a:r>
              <a:rPr lang="en-US" sz="1800">
                <a:latin typeface="Times New Roman" panose="02020603050405020304" charset="0"/>
                <a:cs typeface="Times New Roman" panose="02020603050405020304" charset="0"/>
              </a:rPr>
              <a:t>                                             </a:t>
            </a:r>
            <a:r>
              <a:rPr lang="en-US" sz="1800">
                <a:highlight>
                  <a:srgbClr val="FFFF00"/>
                </a:highlight>
                <a:latin typeface="Times New Roman" panose="02020603050405020304" charset="0"/>
                <a:cs typeface="Times New Roman" panose="02020603050405020304" charset="0"/>
              </a:rPr>
              <a:t>*The widows have very less % of Defaulter.</a:t>
            </a:r>
            <a:br>
              <a:rPr lang="en-US" sz="1800">
                <a:latin typeface="Times New Roman" panose="02020603050405020304" charset="0"/>
                <a:cs typeface="Times New Roman" panose="02020603050405020304" charset="0"/>
              </a:rPr>
            </a:br>
            <a:r>
              <a:rPr lang="en-US" sz="1800">
                <a:latin typeface="Times New Roman" panose="02020603050405020304" charset="0"/>
                <a:cs typeface="Times New Roman" panose="02020603050405020304" charset="0"/>
              </a:rPr>
              <a:t> </a:t>
            </a:r>
            <a:endParaRPr lang="en-US" sz="1800">
              <a:latin typeface="Times New Roman" panose="02020603050405020304" charset="0"/>
              <a:cs typeface="Times New Roman" panose="02020603050405020304" charset="0"/>
            </a:endParaRPr>
          </a:p>
        </p:txBody>
      </p:sp>
      <p:pic>
        <p:nvPicPr>
          <p:cNvPr id="8" name="Content Placeholder 7" descr="D3"/>
          <p:cNvPicPr>
            <a:picLocks noChangeAspect="1"/>
          </p:cNvPicPr>
          <p:nvPr>
            <p:ph idx="1"/>
          </p:nvPr>
        </p:nvPicPr>
        <p:blipFill>
          <a:blip r:embed="rId1"/>
          <a:srcRect l="26880" t="31603" r="31370" b="17513"/>
          <a:stretch>
            <a:fillRect/>
          </a:stretch>
        </p:blipFill>
        <p:spPr>
          <a:xfrm>
            <a:off x="2073910" y="942340"/>
            <a:ext cx="7964805" cy="50907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052195"/>
          </a:xfrm>
        </p:spPr>
        <p:txBody>
          <a:bodyPr/>
          <a:p>
            <a:r>
              <a:rPr lang="en-US" sz="1800">
                <a:highlight>
                  <a:srgbClr val="FFFF00"/>
                </a:highlight>
                <a:latin typeface="Times New Roman" panose="02020603050405020304" charset="0"/>
                <a:cs typeface="Times New Roman" panose="02020603050405020304" charset="0"/>
              </a:rPr>
              <a:t>* The more number of people have taken lone who have no children and 1-3 childrens.</a:t>
            </a:r>
            <a:br>
              <a:rPr lang="en-US" sz="1800">
                <a:highlight>
                  <a:srgbClr val="FFFF00"/>
                </a:highlight>
                <a:latin typeface="Times New Roman" panose="02020603050405020304" charset="0"/>
                <a:cs typeface="Times New Roman" panose="02020603050405020304" charset="0"/>
              </a:rPr>
            </a:br>
            <a:r>
              <a:rPr lang="en-US" sz="1800">
                <a:highlight>
                  <a:srgbClr val="FFFF00"/>
                </a:highlight>
                <a:latin typeface="Times New Roman" panose="02020603050405020304" charset="0"/>
                <a:cs typeface="Times New Roman" panose="02020603050405020304" charset="0"/>
              </a:rPr>
              <a:t>* The % of Defaulter is more who have 3-5 childrens.</a:t>
            </a:r>
            <a:br>
              <a:rPr lang="en-US" sz="1800">
                <a:highlight>
                  <a:srgbClr val="FFFF00"/>
                </a:highlight>
                <a:latin typeface="Times New Roman" panose="02020603050405020304" charset="0"/>
                <a:cs typeface="Times New Roman" panose="02020603050405020304" charset="0"/>
              </a:rPr>
            </a:br>
            <a:r>
              <a:rPr lang="en-US" sz="1800">
                <a:highlight>
                  <a:srgbClr val="FFFF00"/>
                </a:highlight>
                <a:latin typeface="Times New Roman" panose="02020603050405020304" charset="0"/>
                <a:cs typeface="Times New Roman" panose="02020603050405020304" charset="0"/>
              </a:rPr>
              <a:t> *The number of lone taken by Small families are more also there % of Defaulter is less.</a:t>
            </a:r>
            <a:endParaRPr lang="en-US" sz="1800">
              <a:highlight>
                <a:srgbClr val="FFFF00"/>
              </a:highlight>
              <a:latin typeface="Times New Roman" panose="02020603050405020304" charset="0"/>
              <a:cs typeface="Times New Roman" panose="02020603050405020304" charset="0"/>
            </a:endParaRPr>
          </a:p>
        </p:txBody>
      </p:sp>
      <p:pic>
        <p:nvPicPr>
          <p:cNvPr id="6" name="Content Placeholder 5" descr="D4"/>
          <p:cNvPicPr>
            <a:picLocks noChangeAspect="1"/>
          </p:cNvPicPr>
          <p:nvPr>
            <p:ph sz="half" idx="1"/>
          </p:nvPr>
        </p:nvPicPr>
        <p:blipFill>
          <a:blip r:embed="rId1"/>
          <a:srcRect l="27045" t="36038" r="31702" b="20179"/>
          <a:stretch>
            <a:fillRect/>
          </a:stretch>
        </p:blipFill>
        <p:spPr>
          <a:xfrm>
            <a:off x="609600" y="1506855"/>
            <a:ext cx="5384800" cy="4419600"/>
          </a:xfrm>
          <a:prstGeom prst="rect">
            <a:avLst/>
          </a:prstGeom>
        </p:spPr>
      </p:pic>
      <p:pic>
        <p:nvPicPr>
          <p:cNvPr id="7" name="Content Placeholder 6" descr="D5"/>
          <p:cNvPicPr>
            <a:picLocks noChangeAspect="1"/>
          </p:cNvPicPr>
          <p:nvPr>
            <p:ph sz="half" idx="2"/>
          </p:nvPr>
        </p:nvPicPr>
        <p:blipFill>
          <a:blip r:embed="rId2"/>
          <a:srcRect l="27082" t="40436" r="31415" b="18548"/>
          <a:stretch>
            <a:fillRect/>
          </a:stretch>
        </p:blipFill>
        <p:spPr>
          <a:xfrm>
            <a:off x="6183630" y="1506855"/>
            <a:ext cx="5398770" cy="44202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76530"/>
            <a:ext cx="10972800" cy="1141095"/>
          </a:xfrm>
        </p:spPr>
        <p:txBody>
          <a:bodyPr/>
          <a:p>
            <a:r>
              <a:rPr lang="en-US" sz="1800">
                <a:solidFill>
                  <a:srgbClr val="FF8810"/>
                </a:solidFill>
                <a:latin typeface="Times New Roman" panose="02020603050405020304" charset="0"/>
                <a:cs typeface="Times New Roman" panose="02020603050405020304" charset="0"/>
              </a:rPr>
              <a:t>4) Education Analysis:-</a:t>
            </a:r>
            <a:r>
              <a:rPr lang="en-US" sz="1800">
                <a:solidFill>
                  <a:srgbClr val="FF8810"/>
                </a:solidFill>
                <a:highlight>
                  <a:srgbClr val="FFFF00"/>
                </a:highlight>
                <a:latin typeface="Times New Roman" panose="02020603050405020304" charset="0"/>
                <a:cs typeface="Times New Roman" panose="02020603050405020304" charset="0"/>
              </a:rPr>
              <a:t> </a:t>
            </a:r>
            <a:r>
              <a:rPr lang="en-US" sz="1800">
                <a:highlight>
                  <a:srgbClr val="FFFF00"/>
                </a:highlight>
                <a:latin typeface="Times New Roman" panose="02020603050405020304" charset="0"/>
                <a:cs typeface="Times New Roman" panose="02020603050405020304" charset="0"/>
              </a:rPr>
              <a:t>* There are large number of people taken lone whoes education is Secondary/Secondary      Special education.</a:t>
            </a:r>
            <a:br>
              <a:rPr lang="en-US" sz="1800">
                <a:highlight>
                  <a:srgbClr val="FFFF00"/>
                </a:highlight>
                <a:latin typeface="Times New Roman" panose="02020603050405020304" charset="0"/>
                <a:cs typeface="Times New Roman" panose="02020603050405020304" charset="0"/>
              </a:rPr>
            </a:br>
            <a:r>
              <a:rPr lang="en-US" sz="1800">
                <a:latin typeface="Times New Roman" panose="02020603050405020304" charset="0"/>
                <a:cs typeface="Times New Roman" panose="02020603050405020304" charset="0"/>
              </a:rPr>
              <a:t>                                       </a:t>
            </a:r>
            <a:r>
              <a:rPr lang="en-US" sz="1800">
                <a:highlight>
                  <a:srgbClr val="FFFF00"/>
                </a:highlight>
                <a:latin typeface="Times New Roman" panose="02020603050405020304" charset="0"/>
                <a:cs typeface="Times New Roman" panose="02020603050405020304" charset="0"/>
              </a:rPr>
              <a:t>*The people with Lower Secondary education have more % of Defaulters.</a:t>
            </a:r>
            <a:br>
              <a:rPr lang="en-US" sz="1800">
                <a:latin typeface="Times New Roman" panose="02020603050405020304" charset="0"/>
                <a:cs typeface="Times New Roman" panose="02020603050405020304" charset="0"/>
              </a:rPr>
            </a:br>
            <a:endParaRPr lang="en-US" sz="1800">
              <a:latin typeface="Times New Roman" panose="02020603050405020304" charset="0"/>
              <a:cs typeface="Times New Roman" panose="02020603050405020304" charset="0"/>
            </a:endParaRPr>
          </a:p>
        </p:txBody>
      </p:sp>
      <p:pic>
        <p:nvPicPr>
          <p:cNvPr id="5" name="Content Placeholder 4" descr="D6"/>
          <p:cNvPicPr>
            <a:picLocks noChangeAspect="1"/>
          </p:cNvPicPr>
          <p:nvPr>
            <p:ph idx="1"/>
          </p:nvPr>
        </p:nvPicPr>
        <p:blipFill>
          <a:blip r:embed="rId1"/>
          <a:srcRect l="12989" t="29879" r="46435" b="22421"/>
          <a:stretch>
            <a:fillRect/>
          </a:stretch>
        </p:blipFill>
        <p:spPr>
          <a:xfrm>
            <a:off x="1831975" y="1127760"/>
            <a:ext cx="8030210" cy="49237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982345"/>
          </a:xfrm>
        </p:spPr>
        <p:txBody>
          <a:bodyPr/>
          <a:p>
            <a:r>
              <a:rPr lang="en-US" sz="1800">
                <a:solidFill>
                  <a:srgbClr val="FF8810"/>
                </a:solidFill>
                <a:latin typeface="Times New Roman" panose="02020603050405020304" charset="0"/>
                <a:cs typeface="Times New Roman" panose="02020603050405020304" charset="0"/>
              </a:rPr>
              <a:t>5) Occupation Analysis:- </a:t>
            </a:r>
            <a:r>
              <a:rPr lang="en-US" sz="1800">
                <a:highlight>
                  <a:srgbClr val="FFFF00"/>
                </a:highlight>
                <a:latin typeface="Times New Roman" panose="02020603050405020304" charset="0"/>
                <a:cs typeface="Times New Roman" panose="02020603050405020304" charset="0"/>
              </a:rPr>
              <a:t>*The maximum number of customers are Laborers.</a:t>
            </a:r>
            <a:br>
              <a:rPr lang="en-US" sz="1800">
                <a:latin typeface="Times New Roman" panose="02020603050405020304" charset="0"/>
                <a:cs typeface="Times New Roman" panose="02020603050405020304" charset="0"/>
              </a:rPr>
            </a:br>
            <a:r>
              <a:rPr lang="en-US" sz="1800">
                <a:latin typeface="Times New Roman" panose="02020603050405020304" charset="0"/>
                <a:cs typeface="Times New Roman" panose="02020603050405020304" charset="0"/>
              </a:rPr>
              <a:t>                                         </a:t>
            </a:r>
            <a:r>
              <a:rPr lang="en-US" sz="1800">
                <a:highlight>
                  <a:srgbClr val="FFFF00"/>
                </a:highlight>
                <a:latin typeface="Times New Roman" panose="02020603050405020304" charset="0"/>
                <a:cs typeface="Times New Roman" panose="02020603050405020304" charset="0"/>
              </a:rPr>
              <a:t>*The % of Defaulters are maximun in Low-skilled Laborers.</a:t>
            </a:r>
            <a:endParaRPr lang="en-US" sz="1800">
              <a:highlight>
                <a:srgbClr val="FFFF00"/>
              </a:highlight>
              <a:latin typeface="Times New Roman" panose="02020603050405020304" charset="0"/>
              <a:cs typeface="Times New Roman" panose="02020603050405020304" charset="0"/>
            </a:endParaRPr>
          </a:p>
        </p:txBody>
      </p:sp>
      <p:pic>
        <p:nvPicPr>
          <p:cNvPr id="5" name="Content Placeholder 4" descr="D7"/>
          <p:cNvPicPr>
            <a:picLocks noChangeAspect="1"/>
          </p:cNvPicPr>
          <p:nvPr>
            <p:ph sz="half" idx="1"/>
          </p:nvPr>
        </p:nvPicPr>
        <p:blipFill>
          <a:blip r:embed="rId1"/>
          <a:srcRect l="43198" t="29970" r="23591" b="27411"/>
          <a:stretch>
            <a:fillRect/>
          </a:stretch>
        </p:blipFill>
        <p:spPr>
          <a:xfrm>
            <a:off x="395605" y="1157605"/>
            <a:ext cx="4220210" cy="4893945"/>
          </a:xfrm>
          <a:prstGeom prst="rect">
            <a:avLst/>
          </a:prstGeom>
        </p:spPr>
      </p:pic>
      <p:pic>
        <p:nvPicPr>
          <p:cNvPr id="6" name="Content Placeholder 5" descr="D8"/>
          <p:cNvPicPr>
            <a:picLocks noChangeAspect="1"/>
          </p:cNvPicPr>
          <p:nvPr>
            <p:ph sz="half" idx="2"/>
          </p:nvPr>
        </p:nvPicPr>
        <p:blipFill>
          <a:blip r:embed="rId2"/>
          <a:srcRect l="37559" t="30939" r="18775" b="17254"/>
          <a:stretch>
            <a:fillRect/>
          </a:stretch>
        </p:blipFill>
        <p:spPr>
          <a:xfrm>
            <a:off x="4749165" y="1172845"/>
            <a:ext cx="7193280" cy="48787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684530"/>
          </a:xfrm>
        </p:spPr>
        <p:txBody>
          <a:bodyPr/>
          <a:p>
            <a:r>
              <a:rPr lang="en-US" sz="1800">
                <a:highlight>
                  <a:srgbClr val="FFFF00"/>
                </a:highlight>
                <a:latin typeface="Times New Roman" panose="02020603050405020304" charset="0"/>
                <a:cs typeface="Times New Roman" panose="02020603050405020304" charset="0"/>
              </a:rPr>
              <a:t>* There are more number of  people with 5 or less then 5 years of experiance and they have maximun % of Defaulters, </a:t>
            </a:r>
            <a:endParaRPr lang="en-US" sz="1800">
              <a:highlight>
                <a:srgbClr val="FFFF00"/>
              </a:highlight>
              <a:latin typeface="Times New Roman" panose="02020603050405020304" charset="0"/>
              <a:cs typeface="Times New Roman" panose="02020603050405020304" charset="0"/>
            </a:endParaRPr>
          </a:p>
        </p:txBody>
      </p:sp>
      <p:pic>
        <p:nvPicPr>
          <p:cNvPr id="5" name="Content Placeholder 4" descr="D9"/>
          <p:cNvPicPr>
            <a:picLocks noChangeAspect="1"/>
          </p:cNvPicPr>
          <p:nvPr>
            <p:ph idx="1"/>
          </p:nvPr>
        </p:nvPicPr>
        <p:blipFill>
          <a:blip r:embed="rId1"/>
          <a:srcRect l="24883" t="32589" r="30210" b="11777"/>
          <a:stretch>
            <a:fillRect/>
          </a:stretch>
        </p:blipFill>
        <p:spPr>
          <a:xfrm>
            <a:off x="2051050" y="1069340"/>
            <a:ext cx="7999730" cy="4953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marL="285750" indent="-285750">
              <a:buFont typeface="Wingdings" panose="05000000000000000000" charset="0"/>
              <a:buChar char="v"/>
            </a:pPr>
            <a:r>
              <a:rPr lang="en-US" sz="1800">
                <a:solidFill>
                  <a:srgbClr val="FF8810"/>
                </a:solidFill>
                <a:latin typeface="Times New Roman" panose="02020603050405020304" charset="0"/>
                <a:cs typeface="Times New Roman" panose="02020603050405020304" charset="0"/>
              </a:rPr>
              <a:t>Segmented Univariate Analysis:- 1) Income Range:-</a:t>
            </a:r>
            <a:r>
              <a:rPr lang="en-US" sz="1800">
                <a:latin typeface="Times New Roman" panose="02020603050405020304" charset="0"/>
                <a:cs typeface="Times New Roman" panose="02020603050405020304" charset="0"/>
              </a:rPr>
              <a:t> </a:t>
            </a:r>
            <a:r>
              <a:rPr lang="en-US" sz="1800">
                <a:highlight>
                  <a:srgbClr val="FFFF00"/>
                </a:highlight>
                <a:latin typeface="Times New Roman" panose="02020603050405020304" charset="0"/>
                <a:cs typeface="Times New Roman" panose="02020603050405020304" charset="0"/>
              </a:rPr>
              <a:t>*The most number of customer have Income between 50000-250000. also the number of Defalters are more too. </a:t>
            </a:r>
            <a:endParaRPr lang="en-US" sz="1800">
              <a:highlight>
                <a:srgbClr val="FFFF00"/>
              </a:highlight>
              <a:latin typeface="Times New Roman" panose="02020603050405020304" charset="0"/>
              <a:cs typeface="Times New Roman" panose="02020603050405020304" charset="0"/>
            </a:endParaRPr>
          </a:p>
        </p:txBody>
      </p:sp>
      <p:pic>
        <p:nvPicPr>
          <p:cNvPr id="2" name="Content Placeholder 1" descr="D10"/>
          <p:cNvPicPr>
            <a:picLocks noChangeAspect="1"/>
          </p:cNvPicPr>
          <p:nvPr>
            <p:ph sz="half" idx="1"/>
          </p:nvPr>
        </p:nvPicPr>
        <p:blipFill>
          <a:blip r:embed="rId1"/>
          <a:srcRect l="23881" t="28438" r="46489" b="13924"/>
          <a:stretch>
            <a:fillRect/>
          </a:stretch>
        </p:blipFill>
        <p:spPr>
          <a:xfrm>
            <a:off x="609600" y="1009650"/>
            <a:ext cx="4359275" cy="5091430"/>
          </a:xfrm>
          <a:prstGeom prst="rect">
            <a:avLst/>
          </a:prstGeom>
        </p:spPr>
      </p:pic>
      <p:pic>
        <p:nvPicPr>
          <p:cNvPr id="3" name="Content Placeholder 2" descr="D11"/>
          <p:cNvPicPr>
            <a:picLocks noChangeAspect="1"/>
          </p:cNvPicPr>
          <p:nvPr>
            <p:ph sz="half" idx="2"/>
          </p:nvPr>
        </p:nvPicPr>
        <p:blipFill>
          <a:blip r:embed="rId2"/>
          <a:srcRect l="26896" t="28012" r="45225" b="12537"/>
          <a:stretch>
            <a:fillRect/>
          </a:stretch>
        </p:blipFill>
        <p:spPr>
          <a:xfrm>
            <a:off x="5274945" y="1009015"/>
            <a:ext cx="6418580" cy="50920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sz="1800">
                <a:solidFill>
                  <a:srgbClr val="FF8810"/>
                </a:solidFill>
                <a:latin typeface="Times New Roman" panose="02020603050405020304" charset="0"/>
                <a:cs typeface="Times New Roman" panose="02020603050405020304" charset="0"/>
              </a:rPr>
              <a:t>2) Credit Range:-</a:t>
            </a:r>
            <a:r>
              <a:rPr lang="en-US" sz="1800">
                <a:solidFill>
                  <a:srgbClr val="FF8810"/>
                </a:solidFill>
                <a:highlight>
                  <a:srgbClr val="FFFF00"/>
                </a:highlight>
                <a:latin typeface="Times New Roman" panose="02020603050405020304" charset="0"/>
                <a:cs typeface="Times New Roman" panose="02020603050405020304" charset="0"/>
              </a:rPr>
              <a:t> </a:t>
            </a:r>
            <a:r>
              <a:rPr lang="en-US" sz="1800">
                <a:highlight>
                  <a:srgbClr val="FFFF00"/>
                </a:highlight>
                <a:latin typeface="Times New Roman" panose="02020603050405020304" charset="0"/>
                <a:cs typeface="Times New Roman" panose="02020603050405020304" charset="0"/>
              </a:rPr>
              <a:t>* Most of the customers have Credit range between 200000-300000 also they have less number of Defaulters.</a:t>
            </a:r>
            <a:endParaRPr lang="en-US" sz="1800">
              <a:highlight>
                <a:srgbClr val="FFFF00"/>
              </a:highlight>
              <a:latin typeface="Times New Roman" panose="02020603050405020304" charset="0"/>
              <a:cs typeface="Times New Roman" panose="02020603050405020304" charset="0"/>
            </a:endParaRPr>
          </a:p>
        </p:txBody>
      </p:sp>
      <p:pic>
        <p:nvPicPr>
          <p:cNvPr id="5" name="Content Placeholder 4" descr="D12"/>
          <p:cNvPicPr>
            <a:picLocks noChangeAspect="1"/>
          </p:cNvPicPr>
          <p:nvPr>
            <p:ph idx="1"/>
          </p:nvPr>
        </p:nvPicPr>
        <p:blipFill>
          <a:blip r:embed="rId1"/>
          <a:srcRect l="9075" t="27756" r="30376" b="15141"/>
          <a:stretch>
            <a:fillRect/>
          </a:stretch>
        </p:blipFill>
        <p:spPr>
          <a:xfrm>
            <a:off x="761365" y="909955"/>
            <a:ext cx="10462895" cy="50393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sz="1800">
                <a:solidFill>
                  <a:srgbClr val="FF8810"/>
                </a:solidFill>
                <a:latin typeface="Times New Roman" panose="02020603050405020304" charset="0"/>
                <a:cs typeface="Times New Roman" panose="02020603050405020304" charset="0"/>
              </a:rPr>
              <a:t>3) Annuity Range:- </a:t>
            </a:r>
            <a:r>
              <a:rPr lang="en-US" sz="1800">
                <a:highlight>
                  <a:srgbClr val="FFFF00"/>
                </a:highlight>
                <a:latin typeface="Times New Roman" panose="02020603050405020304" charset="0"/>
                <a:cs typeface="Times New Roman" panose="02020603050405020304" charset="0"/>
              </a:rPr>
              <a:t>* The most of the peoples have Annuity range between 10000-40000 also they have approximately  10% - 15% of Defaulters.</a:t>
            </a:r>
            <a:endParaRPr lang="en-US" sz="1800">
              <a:highlight>
                <a:srgbClr val="FFFF00"/>
              </a:highlight>
              <a:latin typeface="Times New Roman" panose="02020603050405020304" charset="0"/>
              <a:cs typeface="Times New Roman" panose="02020603050405020304" charset="0"/>
            </a:endParaRPr>
          </a:p>
        </p:txBody>
      </p:sp>
      <p:pic>
        <p:nvPicPr>
          <p:cNvPr id="5" name="Content Placeholder 4" descr="D13"/>
          <p:cNvPicPr>
            <a:picLocks noChangeAspect="1"/>
          </p:cNvPicPr>
          <p:nvPr>
            <p:ph idx="1"/>
          </p:nvPr>
        </p:nvPicPr>
        <p:blipFill>
          <a:blip r:embed="rId1"/>
          <a:srcRect l="7583" t="28433" r="8585" b="14409"/>
          <a:stretch>
            <a:fillRect/>
          </a:stretch>
        </p:blipFill>
        <p:spPr>
          <a:xfrm>
            <a:off x="609600" y="1098550"/>
            <a:ext cx="10921365" cy="48793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marL="285750" indent="-285750">
              <a:buFont typeface="Wingdings" panose="05000000000000000000" charset="0"/>
              <a:buChar char="v"/>
            </a:pPr>
            <a:r>
              <a:rPr lang="en-US" sz="1800">
                <a:solidFill>
                  <a:srgbClr val="FF8810"/>
                </a:solidFill>
                <a:latin typeface="Times New Roman" panose="02020603050405020304" charset="0"/>
                <a:cs typeface="Times New Roman" panose="02020603050405020304" charset="0"/>
              </a:rPr>
              <a:t>Bivariate Analysis:-</a:t>
            </a:r>
            <a:r>
              <a:rPr lang="en-US" sz="1800">
                <a:highlight>
                  <a:srgbClr val="FFFF00"/>
                </a:highlight>
                <a:latin typeface="Times New Roman" panose="02020603050405020304" charset="0"/>
                <a:cs typeface="Times New Roman" panose="02020603050405020304" charset="0"/>
              </a:rPr>
              <a:t> *The Trendline shows that, if the Income Range is increased then the Average Credit also increaseed .The average annuity is also gradually increasing. </a:t>
            </a:r>
            <a:endParaRPr lang="en-US" sz="1800">
              <a:highlight>
                <a:srgbClr val="FFFF00"/>
              </a:highlight>
              <a:latin typeface="Times New Roman" panose="02020603050405020304" charset="0"/>
              <a:cs typeface="Times New Roman" panose="02020603050405020304" charset="0"/>
            </a:endParaRPr>
          </a:p>
        </p:txBody>
      </p:sp>
      <p:pic>
        <p:nvPicPr>
          <p:cNvPr id="5" name="Content Placeholder 4" descr="D14"/>
          <p:cNvPicPr>
            <a:picLocks noChangeAspect="1"/>
          </p:cNvPicPr>
          <p:nvPr>
            <p:ph idx="1"/>
          </p:nvPr>
        </p:nvPicPr>
        <p:blipFill>
          <a:blip r:embed="rId1"/>
          <a:srcRect l="7749" t="29386" r="3372" b="17557"/>
          <a:stretch>
            <a:fillRect/>
          </a:stretch>
        </p:blipFill>
        <p:spPr>
          <a:xfrm>
            <a:off x="608965" y="878840"/>
            <a:ext cx="10974070" cy="518731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852170"/>
          </a:xfrm>
        </p:spPr>
        <p:txBody>
          <a:bodyPr/>
          <a:p>
            <a:r>
              <a:rPr lang="en-US" sz="1800" b="1">
                <a:solidFill>
                  <a:srgbClr val="FF8810"/>
                </a:solidFill>
                <a:latin typeface="Times New Roman" panose="02020603050405020304" charset="0"/>
                <a:cs typeface="Times New Roman" panose="02020603050405020304" charset="0"/>
                <a:sym typeface="+mn-ea"/>
              </a:rPr>
              <a:t>E) Identify Top Correlations for Differenr Scenarios:-</a:t>
            </a:r>
            <a:r>
              <a:rPr lang="en-US" sz="1800">
                <a:solidFill>
                  <a:srgbClr val="FF8810"/>
                </a:solidFill>
                <a:latin typeface="Times New Roman" panose="02020603050405020304" charset="0"/>
                <a:cs typeface="Times New Roman" panose="02020603050405020304" charset="0"/>
                <a:sym typeface="+mn-ea"/>
              </a:rPr>
              <a:t> </a:t>
            </a:r>
            <a:r>
              <a:rPr lang="en-US" sz="1800">
                <a:latin typeface="Times New Roman" panose="02020603050405020304" charset="0"/>
                <a:cs typeface="Times New Roman" panose="02020603050405020304" charset="0"/>
                <a:sym typeface="+mn-ea"/>
              </a:rPr>
              <a:t>Understanding the correlation between variables and the target variable can provide insights into stromg indicators ofloan default.</a:t>
            </a:r>
            <a:br>
              <a:rPr lang="en-US" sz="1800">
                <a:latin typeface="Times New Roman" panose="02020603050405020304" charset="0"/>
                <a:cs typeface="Times New Roman" panose="02020603050405020304" charset="0"/>
              </a:rPr>
            </a:br>
            <a:r>
              <a:rPr lang="en-US" sz="1800">
                <a:solidFill>
                  <a:srgbClr val="FF8810"/>
                </a:solidFill>
                <a:latin typeface="Times New Roman" panose="02020603050405020304" charset="0"/>
                <a:cs typeface="Times New Roman" panose="02020603050405020304" charset="0"/>
                <a:sym typeface="+mn-ea"/>
              </a:rPr>
              <a:t>     </a:t>
            </a:r>
            <a:r>
              <a:rPr lang="en-US" sz="1800" b="1">
                <a:solidFill>
                  <a:srgbClr val="FF8810"/>
                </a:solidFill>
                <a:latin typeface="Times New Roman" panose="02020603050405020304" charset="0"/>
                <a:cs typeface="Times New Roman" panose="02020603050405020304" charset="0"/>
                <a:sym typeface="+mn-ea"/>
              </a:rPr>
              <a:t>Task:-</a:t>
            </a:r>
            <a:r>
              <a:rPr lang="en-US" sz="1800">
                <a:solidFill>
                  <a:srgbClr val="FF8810"/>
                </a:solidFill>
                <a:latin typeface="Times New Roman" panose="02020603050405020304" charset="0"/>
                <a:cs typeface="Times New Roman" panose="02020603050405020304" charset="0"/>
                <a:sym typeface="+mn-ea"/>
              </a:rPr>
              <a:t> </a:t>
            </a:r>
            <a:r>
              <a:rPr lang="en-US" sz="1800">
                <a:latin typeface="Times New Roman" panose="02020603050405020304" charset="0"/>
                <a:cs typeface="Times New Roman" panose="02020603050405020304" charset="0"/>
                <a:sym typeface="+mn-ea"/>
              </a:rPr>
              <a:t>Segment the dataset based on different Scenarious. and identify the top correlations for each segmented data using Excel Functions.</a:t>
            </a:r>
            <a:endParaRPr lang="en-US" sz="1800">
              <a:latin typeface="Times New Roman" panose="02020603050405020304" charset="0"/>
              <a:cs typeface="Times New Roman" panose="02020603050405020304" charset="0"/>
            </a:endParaRPr>
          </a:p>
        </p:txBody>
      </p:sp>
      <p:pic>
        <p:nvPicPr>
          <p:cNvPr id="5" name="Content Placeholder 4" descr="E1"/>
          <p:cNvPicPr>
            <a:picLocks noChangeAspect="1"/>
          </p:cNvPicPr>
          <p:nvPr>
            <p:ph sz="half" idx="1"/>
          </p:nvPr>
        </p:nvPicPr>
        <p:blipFill>
          <a:blip r:embed="rId1"/>
          <a:srcRect l="11299" t="43951" r="32008" b="36383"/>
          <a:stretch>
            <a:fillRect/>
          </a:stretch>
        </p:blipFill>
        <p:spPr>
          <a:xfrm>
            <a:off x="1386840" y="1492250"/>
            <a:ext cx="9619615" cy="2044700"/>
          </a:xfrm>
          <a:prstGeom prst="rect">
            <a:avLst/>
          </a:prstGeom>
        </p:spPr>
      </p:pic>
      <p:pic>
        <p:nvPicPr>
          <p:cNvPr id="6" name="Content Placeholder 5" descr="E2"/>
          <p:cNvPicPr>
            <a:picLocks noChangeAspect="1"/>
          </p:cNvPicPr>
          <p:nvPr>
            <p:ph sz="half" idx="2"/>
          </p:nvPr>
        </p:nvPicPr>
        <p:blipFill>
          <a:blip r:embed="rId2"/>
          <a:srcRect l="14236" t="49159" r="33261" b="31296"/>
          <a:stretch>
            <a:fillRect/>
          </a:stretch>
        </p:blipFill>
        <p:spPr>
          <a:xfrm>
            <a:off x="1386205" y="3883025"/>
            <a:ext cx="9620250" cy="21837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1850" y="2722245"/>
            <a:ext cx="10515600" cy="1270000"/>
          </a:xfrm>
        </p:spPr>
        <p:txBody>
          <a:bodyPr/>
          <a:p>
            <a:pPr algn="ctr"/>
            <a:r>
              <a:rPr lang="en-US" b="1">
                <a:solidFill>
                  <a:srgbClr val="FF8810"/>
                </a:solidFill>
                <a:latin typeface="Times New Roman" panose="02020603050405020304" charset="0"/>
                <a:cs typeface="Times New Roman" panose="02020603050405020304" charset="0"/>
              </a:rPr>
              <a:t>END</a:t>
            </a:r>
            <a:endParaRPr lang="en-US" b="1">
              <a:solidFill>
                <a:srgbClr val="FF8810"/>
              </a:solidFill>
              <a:latin typeface="Times New Roman" panose="02020603050405020304" charset="0"/>
              <a:cs typeface="Times New Roman" panose="02020603050405020304" charset="0"/>
            </a:endParaRPr>
          </a:p>
        </p:txBody>
      </p:sp>
      <p:sp>
        <p:nvSpPr>
          <p:cNvPr id="3" name="Text Box 2"/>
          <p:cNvSpPr txBox="1"/>
          <p:nvPr/>
        </p:nvSpPr>
        <p:spPr>
          <a:xfrm>
            <a:off x="661670" y="454025"/>
            <a:ext cx="10685780" cy="1494790"/>
          </a:xfrm>
          <a:prstGeom prst="rect">
            <a:avLst/>
          </a:prstGeom>
          <a:noFill/>
          <a:ln w="12700">
            <a:solidFill>
              <a:srgbClr val="FFC000"/>
            </a:solidFill>
          </a:ln>
        </p:spPr>
        <p:txBody>
          <a:bodyPr wrap="square" rtlCol="0">
            <a:noAutofit/>
          </a:bodyPr>
          <a:p>
            <a:pPr marL="285750" indent="-285750">
              <a:buFont typeface="Wingdings" panose="05000000000000000000" charset="0"/>
              <a:buChar char="v"/>
            </a:pPr>
            <a:r>
              <a:rPr lang="en-US" b="1">
                <a:solidFill>
                  <a:srgbClr val="FF8810"/>
                </a:solidFill>
                <a:latin typeface="Times New Roman" panose="02020603050405020304" charset="0"/>
                <a:cs typeface="Times New Roman" panose="02020603050405020304" charset="0"/>
              </a:rPr>
              <a:t>MICROSOFT EXCEL FILE:-</a:t>
            </a:r>
            <a:r>
              <a:rPr lang="en-US">
                <a:solidFill>
                  <a:schemeClr val="tx1"/>
                </a:solidFill>
                <a:latin typeface="Times New Roman" panose="02020603050405020304" charset="0"/>
                <a:cs typeface="Times New Roman" panose="02020603050405020304" charset="0"/>
              </a:rPr>
              <a:t> </a:t>
            </a:r>
            <a:r>
              <a:rPr lang="en-US">
                <a:solidFill>
                  <a:srgbClr val="0022F2"/>
                </a:solidFill>
                <a:latin typeface="Times New Roman" panose="02020603050405020304" charset="0"/>
                <a:cs typeface="Times New Roman" panose="02020603050405020304" charset="0"/>
              </a:rPr>
              <a:t>https://docs.google.com/spreadsheets/d/1tgmGcpx9cmGHbVpD6r4QAubecG-PgD_q/edit?usp=drive_link&amp;ouid=103974361659264463652&amp;rtpof=true&amp;sd=true</a:t>
            </a:r>
            <a:endParaRPr lang="en-US">
              <a:solidFill>
                <a:srgbClr val="0022F2"/>
              </a:solidFill>
              <a:latin typeface="Times New Roman" panose="02020603050405020304" charset="0"/>
              <a:cs typeface="Times New Roman" panose="02020603050405020304" charset="0"/>
            </a:endParaRPr>
          </a:p>
          <a:p>
            <a:pPr indent="0">
              <a:buFont typeface="Wingdings" panose="05000000000000000000" charset="0"/>
              <a:buNone/>
            </a:pPr>
            <a:endParaRPr lang="en-US" sz="500">
              <a:solidFill>
                <a:srgbClr val="0022F2"/>
              </a:solidFill>
              <a:latin typeface="Times New Roman" panose="02020603050405020304" charset="0"/>
              <a:cs typeface="Times New Roman" panose="02020603050405020304" charset="0"/>
            </a:endParaRPr>
          </a:p>
          <a:p>
            <a:pPr marL="285750" indent="-285750">
              <a:buFont typeface="Wingdings" panose="05000000000000000000" charset="0"/>
              <a:buChar char="v"/>
            </a:pPr>
            <a:r>
              <a:rPr lang="en-US" b="1">
                <a:solidFill>
                  <a:srgbClr val="FF8810"/>
                </a:solidFill>
                <a:latin typeface="Times New Roman" panose="02020603050405020304" charset="0"/>
                <a:cs typeface="Times New Roman" panose="02020603050405020304" charset="0"/>
              </a:rPr>
              <a:t>VIDEO LINK:</a:t>
            </a:r>
            <a:r>
              <a:rPr lang="en-US" b="1">
                <a:solidFill>
                  <a:srgbClr val="0022F2"/>
                </a:solidFill>
                <a:latin typeface="Times New Roman" panose="02020603050405020304" charset="0"/>
                <a:cs typeface="Times New Roman" panose="02020603050405020304" charset="0"/>
              </a:rPr>
              <a:t>-</a:t>
            </a:r>
            <a:r>
              <a:rPr lang="en-US">
                <a:solidFill>
                  <a:srgbClr val="0022F2"/>
                </a:solidFill>
                <a:latin typeface="Times New Roman" panose="02020603050405020304" charset="0"/>
                <a:cs typeface="Times New Roman" panose="02020603050405020304" charset="0"/>
              </a:rPr>
              <a:t>https://www.loom.com/share/71722adfb0424bb59daa57fcc3e03340?sid=0dbcd61a-5f08-4723-b32b-2e9e41d52d1a</a:t>
            </a:r>
            <a:endParaRPr lang="en-US">
              <a:solidFill>
                <a:srgbClr val="0022F2"/>
              </a:solidFill>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8250</Words>
  <Application>WPS Presentation</Application>
  <PresentationFormat>Widescreen</PresentationFormat>
  <Paragraphs>99</Paragraphs>
  <Slides>22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Arial</vt:lpstr>
      <vt:lpstr>SimSun</vt:lpstr>
      <vt:lpstr>Wingdings</vt:lpstr>
      <vt:lpstr>Times New Roman</vt:lpstr>
      <vt:lpstr>Wingdings</vt:lpstr>
      <vt:lpstr>Microsoft YaHei</vt:lpstr>
      <vt:lpstr>Arial Unicode MS</vt:lpstr>
      <vt:lpstr>Calibri</vt:lpstr>
      <vt:lpstr>Orange Waves</vt:lpstr>
      <vt:lpstr>Name:- Yash Rajendra Gaikwad Data Analytics Trainee Project 6:- Bank Loan Study. Software Used:- Microsoft Excel.</vt:lpstr>
      <vt:lpstr>PowerPoint 演示文稿</vt:lpstr>
      <vt:lpstr>A) Identify Missing Data and  Deal with it Appropriately:- As a data analyst, you come across missing dat in the loan application dataset. it is essential to handle missing data effectively to ensure the accuracy of the analysis.      Task:- Identify missing data in the dataset and decide on an appropriate method to deal with it usong excel built-in        function and features.</vt:lpstr>
      <vt:lpstr>PowerPoint 演示文稿</vt:lpstr>
      <vt:lpstr>PowerPoint 演示文稿</vt:lpstr>
      <vt:lpstr>B) Identify Outliners in the Dataset:- Outliners can significantly impact the analysis and distort the results. you need to identify outliner in the loan application dataset.      Task:- Detect and identift outliners in the dataset using Excel statistical function and features, focusing on numberical variables.</vt:lpstr>
      <vt:lpstr>PowerPoint 演示文稿</vt:lpstr>
      <vt:lpstr>C) Analyze Data Imbalance:- Data imbalance can affect the accuracy of the analysis, especially for binary classification problems.     Task:- Determine if there is data imbalance in dataset and calculate ratio of data imbalance using Excel function.</vt:lpstr>
      <vt:lpstr>PowerPoint 演示文稿</vt:lpstr>
      <vt:lpstr>D) Perform Univarite, Segmented Univariate and Bivariate Analysis:- To gain insight into the driving factors of loan default, it is important to conduct various analysis on cousumer and loan attributes.      Task:- Perform univariate analysis to understand the distribution of individual variables, segmented univariate analysis to compare variabledistributions for different scenarios, and bivariate analysis to explore relationship between variables and the target variable using Excel Functions and features. </vt:lpstr>
      <vt:lpstr>2) Age Analysis:- *The macimum number of loan is taken by Younger people, followed by Mid Age then Older.                              *Also the % of Defaulter is large in Younger people.                               *There is very mininun % of lone taken Old people.</vt:lpstr>
      <vt:lpstr>3) Family Status Analysis:- *The % Defaulter is more in the Married and Seperated peoples.                                              *The widows have very less % of Defaulter.  </vt:lpstr>
      <vt:lpstr>* The more number of people have taken lone who have no children and 1-3 childrens. * The % of Defaulter is more who have 3-5 childrens.  *The number of lone taken by Small families are more also there % of Defaulter is less.</vt:lpstr>
      <vt:lpstr>4) Education Analysis:- * There are large number of people taken lone whoes education is Secondary/Secondary      Special education.                                        *The people with Lower Secondary education have more % of Defaulters. </vt:lpstr>
      <vt:lpstr>5) Occupation Analysis:- *The maximum number of customers are Laborers.                                          *The % of Defaulters are maximun in Low-skilled Laborers.</vt:lpstr>
      <vt:lpstr>* There are more number of  people with 5 or less then 5 years of experiance and they have maximun % of Defaulters, </vt:lpstr>
      <vt:lpstr>Segmented Univariate Analysis:- 1) Income Range:- *The most number of customer have Income between 50000-250000. also the number of Defalters are more too. </vt:lpstr>
      <vt:lpstr>2) Credit Range:- * Most of the customers have Credit range between 200000-300000 also they have less number of Defaulters.</vt:lpstr>
      <vt:lpstr>3) Annuity Range:- * The most of the peoples have Annuity range between 10000-40000 also they have approximately  10% - 15% of Defaulters.</vt:lpstr>
      <vt:lpstr>Bivariate Analysis:- *The Trendline shows that, if the Income Range is increased then the Average Credit also increaseed .The average annuity is also gradually increasing. </vt:lpstr>
      <vt:lpstr>E) Identify Top Correlations for Differenr Scenarios:- Understanding the correlation between variables and the target variable can provide insights into stromg indicators ofloan default.      Task:- Segment the dataset based on different Scenarious. and identify the top correlations for each segmented data using Excel Functions.</vt:lpstr>
      <vt:lpstr>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Yash Rajendra Gaikwad Data Analytics Trainee Project 6:- Bank Loan Study. Software Used:- Microsoft Excel.</dc:title>
  <dc:creator>Yash Gaikwad</dc:creator>
  <cp:lastModifiedBy>91830</cp:lastModifiedBy>
  <cp:revision>36</cp:revision>
  <dcterms:created xsi:type="dcterms:W3CDTF">2024-12-21T10:51:00Z</dcterms:created>
  <dcterms:modified xsi:type="dcterms:W3CDTF">2024-12-22T10:32:20Z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10599C8DDFD640038278BB402DEACEF8_12</vt:lpwstr>
  </property>
  <property fmtid="{D5CDD505-2E9C-101B-9397-08002B2CF9AE}" pid="3" name="KSOProductBuildVer">
    <vt:lpwstr>1033-12.2.0.18607</vt:lpwstr>
  </property>
</Properties>
</file>