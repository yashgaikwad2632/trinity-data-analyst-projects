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3"/>
    <p:sldId id="257" r:id="rId4"/>
    <p:sldId id="258" r:id="rId5"/>
    <p:sldId id="259" r:id="rId6"/>
    <p:sldId id="266" r:id="rId7"/>
    <p:sldId id="262" r:id="rId8"/>
    <p:sldId id="263" r:id="rId9"/>
    <p:sldId id="264" r:id="rId10"/>
    <p:sldId id="265" r:id="rId11"/>
    <p:sldId id="272" r:id="rId12"/>
    <p:sldId id="274" r:id="rId13"/>
    <p:sldId id="276" r:id="rId14"/>
    <p:sldId id="275" r:id="rId15"/>
    <p:sldId id="277" r:id="rId16"/>
    <p:sldId id="278" r:id="rId17"/>
    <p:sldId id="273" r:id="rId18"/>
    <p:sldId id="260" r:id="rId19"/>
    <p:sldId id="279" r:id="rId20"/>
    <p:sldId id="28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860C"/>
    <a:srgbClr val="0945A5"/>
    <a:srgbClr val="F968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3"/>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1850" y="346710"/>
            <a:ext cx="10515600" cy="1462405"/>
          </a:xfrm>
        </p:spPr>
        <p:txBody>
          <a:bodyPr/>
          <a:p>
            <a:pPr algn="ctr"/>
            <a:r>
              <a:rPr lang="en-US" sz="2400" b="1" dirty="0" smtClean="0">
                <a:solidFill>
                  <a:srgbClr val="F7860C"/>
                </a:solidFill>
                <a:latin typeface="Times New Roman" panose="02020603050405020304" charset="0"/>
                <a:cs typeface="Times New Roman" panose="02020603050405020304" charset="0"/>
                <a:sym typeface="+mn-ea"/>
              </a:rPr>
              <a:t>Name:- </a:t>
            </a:r>
            <a:r>
              <a:rPr lang="en-US" sz="2400" b="1" dirty="0" err="1" smtClean="0">
                <a:solidFill>
                  <a:srgbClr val="F7860C"/>
                </a:solidFill>
                <a:latin typeface="Times New Roman" panose="02020603050405020304" charset="0"/>
                <a:cs typeface="Times New Roman" panose="02020603050405020304" charset="0"/>
                <a:sym typeface="+mn-ea"/>
              </a:rPr>
              <a:t>Yash</a:t>
            </a:r>
            <a:r>
              <a:rPr lang="en-US" sz="2400" b="1" dirty="0" smtClean="0">
                <a:solidFill>
                  <a:srgbClr val="F7860C"/>
                </a:solidFill>
                <a:latin typeface="Times New Roman" panose="02020603050405020304" charset="0"/>
                <a:cs typeface="Times New Roman" panose="02020603050405020304" charset="0"/>
                <a:sym typeface="+mn-ea"/>
              </a:rPr>
              <a:t> </a:t>
            </a:r>
            <a:r>
              <a:rPr lang="en-US" sz="2400" b="1" dirty="0" err="1" smtClean="0">
                <a:solidFill>
                  <a:srgbClr val="F7860C"/>
                </a:solidFill>
                <a:latin typeface="Times New Roman" panose="02020603050405020304" charset="0"/>
                <a:cs typeface="Times New Roman" panose="02020603050405020304" charset="0"/>
                <a:sym typeface="+mn-ea"/>
              </a:rPr>
              <a:t>Rajendra</a:t>
            </a:r>
            <a:r>
              <a:rPr lang="en-US" sz="2400" b="1" dirty="0" smtClean="0">
                <a:solidFill>
                  <a:srgbClr val="F7860C"/>
                </a:solidFill>
                <a:latin typeface="Times New Roman" panose="02020603050405020304" charset="0"/>
                <a:cs typeface="Times New Roman" panose="02020603050405020304" charset="0"/>
                <a:sym typeface="+mn-ea"/>
              </a:rPr>
              <a:t> </a:t>
            </a:r>
            <a:r>
              <a:rPr lang="en-US" sz="2400" b="1" dirty="0" err="1" smtClean="0">
                <a:solidFill>
                  <a:srgbClr val="F7860C"/>
                </a:solidFill>
                <a:latin typeface="Times New Roman" panose="02020603050405020304" charset="0"/>
                <a:cs typeface="Times New Roman" panose="02020603050405020304" charset="0"/>
                <a:sym typeface="+mn-ea"/>
              </a:rPr>
              <a:t>Gaikwad</a:t>
            </a:r>
            <a:br>
              <a:rPr lang="en-US" sz="2400" b="1" dirty="0" smtClean="0">
                <a:solidFill>
                  <a:srgbClr val="F7860C"/>
                </a:solidFill>
                <a:latin typeface="Times New Roman" panose="02020603050405020304" charset="0"/>
                <a:cs typeface="Times New Roman" panose="02020603050405020304" charset="0"/>
                <a:sym typeface="+mn-ea"/>
              </a:rPr>
            </a:br>
            <a:r>
              <a:rPr lang="en-US" sz="2400" b="1" dirty="0" smtClean="0">
                <a:solidFill>
                  <a:srgbClr val="F7860C"/>
                </a:solidFill>
                <a:latin typeface="Times New Roman" panose="02020603050405020304" charset="0"/>
                <a:cs typeface="Times New Roman" panose="02020603050405020304" charset="0"/>
                <a:sym typeface="+mn-ea"/>
              </a:rPr>
              <a:t>Data Analytics Trainee</a:t>
            </a:r>
            <a:br>
              <a:rPr lang="en-US" sz="2400" b="1" dirty="0" smtClean="0">
                <a:solidFill>
                  <a:srgbClr val="F7860C"/>
                </a:solidFill>
                <a:latin typeface="Times New Roman" panose="02020603050405020304" charset="0"/>
                <a:cs typeface="Times New Roman" panose="02020603050405020304" charset="0"/>
                <a:sym typeface="+mn-ea"/>
              </a:rPr>
            </a:br>
            <a:r>
              <a:rPr lang="en-US" altLang="en-US" sz="2400" b="1">
                <a:solidFill>
                  <a:srgbClr val="F7860C"/>
                </a:solidFill>
                <a:latin typeface="Times New Roman" panose="02020603050405020304" charset="0"/>
                <a:cs typeface="Times New Roman" panose="02020603050405020304" charset="0"/>
              </a:rPr>
              <a:t>Project-7. Analyzing the Impact of Car Features on Price and Profitability</a:t>
            </a:r>
            <a:r>
              <a:rPr lang="en-US" sz="2400" b="1" dirty="0" smtClean="0">
                <a:solidFill>
                  <a:srgbClr val="F7860C"/>
                </a:solidFill>
                <a:latin typeface="Times New Roman" panose="02020603050405020304" charset="0"/>
                <a:cs typeface="Times New Roman" panose="02020603050405020304" charset="0"/>
                <a:sym typeface="+mn-ea"/>
              </a:rPr>
              <a:t>.</a:t>
            </a:r>
            <a:br>
              <a:rPr lang="en-US" sz="2400" b="1" dirty="0" smtClean="0">
                <a:solidFill>
                  <a:srgbClr val="F7860C"/>
                </a:solidFill>
                <a:latin typeface="Times New Roman" panose="02020603050405020304" charset="0"/>
                <a:cs typeface="Times New Roman" panose="02020603050405020304" charset="0"/>
                <a:sym typeface="+mn-ea"/>
              </a:rPr>
            </a:br>
            <a:r>
              <a:rPr lang="en-US" sz="2400" b="1" dirty="0" smtClean="0">
                <a:solidFill>
                  <a:srgbClr val="F7860C"/>
                </a:solidFill>
                <a:latin typeface="Times New Roman" panose="02020603050405020304" charset="0"/>
                <a:cs typeface="Times New Roman" panose="02020603050405020304" charset="0"/>
                <a:sym typeface="+mn-ea"/>
              </a:rPr>
              <a:t>Software Used:- Microsoft Excel.</a:t>
            </a:r>
            <a:endParaRPr lang="en-US" sz="2400" b="1" dirty="0" smtClean="0">
              <a:solidFill>
                <a:srgbClr val="F7860C"/>
              </a:solidFill>
              <a:latin typeface="Times New Roman" panose="02020603050405020304" charset="0"/>
              <a:cs typeface="Times New Roman" panose="02020603050405020304" charset="0"/>
              <a:sym typeface="+mn-ea"/>
            </a:endParaRPr>
          </a:p>
        </p:txBody>
      </p:sp>
      <p:sp>
        <p:nvSpPr>
          <p:cNvPr id="5" name="Text Placeholder 4"/>
          <p:cNvSpPr>
            <a:spLocks noGrp="1"/>
          </p:cNvSpPr>
          <p:nvPr>
            <p:ph type="body" idx="1"/>
          </p:nvPr>
        </p:nvSpPr>
        <p:spPr>
          <a:xfrm>
            <a:off x="831850" y="1981835"/>
            <a:ext cx="10515600" cy="4137660"/>
          </a:xfrm>
        </p:spPr>
        <p:txBody>
          <a:bodyPr/>
          <a:p>
            <a:pPr marL="285750" indent="-285750">
              <a:buFont typeface="Wingdings" panose="05000000000000000000" charset="0"/>
              <a:buChar char="v"/>
            </a:pPr>
            <a:r>
              <a:rPr lang="en-US" sz="1800" b="1">
                <a:solidFill>
                  <a:srgbClr val="F7860C"/>
                </a:solidFill>
                <a:latin typeface="Times New Roman" panose="02020603050405020304" charset="0"/>
                <a:cs typeface="Times New Roman" panose="02020603050405020304" charset="0"/>
                <a:sym typeface="+mn-ea"/>
              </a:rPr>
              <a:t>Analysis done on following Points:-</a:t>
            </a:r>
            <a:endParaRPr lang="en-US" sz="1800" b="1">
              <a:solidFill>
                <a:srgbClr val="F7860C"/>
              </a:solidFill>
              <a:latin typeface="Times New Roman" panose="02020603050405020304" charset="0"/>
              <a:cs typeface="Times New Roman" panose="02020603050405020304" charset="0"/>
              <a:sym typeface="+mn-ea"/>
            </a:endParaRPr>
          </a:p>
          <a:p>
            <a:pPr>
              <a:buFont typeface="Wingdings" panose="05000000000000000000" charset="0"/>
            </a:pPr>
            <a:endParaRPr lang="en-US" sz="800" b="1">
              <a:solidFill>
                <a:srgbClr val="F7860C"/>
              </a:solidFill>
              <a:latin typeface="Times New Roman" panose="02020603050405020304" charset="0"/>
              <a:cs typeface="Times New Roman" panose="02020603050405020304" charset="0"/>
              <a:sym typeface="+mn-ea"/>
            </a:endParaRPr>
          </a:p>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rPr>
              <a:t>Task 1:-</a:t>
            </a:r>
            <a:r>
              <a:rPr lang="en-US" altLang="en-US" sz="1800">
                <a:latin typeface="Times New Roman" panose="02020603050405020304" charset="0"/>
                <a:cs typeface="Times New Roman" panose="02020603050405020304" charset="0"/>
              </a:rPr>
              <a:t>How does the popularity of a car model vary across different market categories?</a:t>
            </a:r>
            <a:endParaRPr lang="en-US" altLang="en-US" sz="18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800">
                <a:latin typeface="Times New Roman" panose="02020603050405020304" charset="0"/>
                <a:cs typeface="Times New Roman" panose="02020603050405020304" charset="0"/>
              </a:rPr>
              <a:t>Task 1.A:- Create a pivot table that shows the number of car models in each market category and their corresponding popularity scores.</a:t>
            </a:r>
            <a:endParaRPr lang="en-US" altLang="en-US" sz="18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800">
                <a:latin typeface="Times New Roman" panose="02020603050405020304" charset="0"/>
                <a:cs typeface="Times New Roman" panose="02020603050405020304" charset="0"/>
              </a:rPr>
              <a:t>Task 1.B:Create a combo chart that visualizes the relationship between market category and popularity.</a:t>
            </a:r>
            <a:endParaRPr lang="en-US" altLang="en-US" sz="1800">
              <a:latin typeface="Times New Roman" panose="02020603050405020304" charset="0"/>
              <a:cs typeface="Times New Roman" panose="02020603050405020304" charset="0"/>
            </a:endParaRPr>
          </a:p>
          <a:p>
            <a:endParaRPr lang="en-US" altLang="en-US" sz="8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rPr>
              <a:t>Task 2:- </a:t>
            </a:r>
            <a:r>
              <a:rPr lang="en-US" altLang="en-US" sz="1800">
                <a:latin typeface="Times New Roman" panose="02020603050405020304" charset="0"/>
                <a:cs typeface="Times New Roman" panose="02020603050405020304" charset="0"/>
              </a:rPr>
              <a:t>What is the relationship between a car's engine power and its price?</a:t>
            </a:r>
            <a:endParaRPr lang="en-US" altLang="en-US" sz="18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800">
                <a:latin typeface="Times New Roman" panose="02020603050405020304" charset="0"/>
                <a:cs typeface="Times New Roman" panose="02020603050405020304" charset="0"/>
              </a:rPr>
              <a:t>Task:-  Create a scatter chart that plots engine power on the x-axis and price on the y-axis. Add a trendline to the chart to visualize the relationship between these variables.</a:t>
            </a:r>
            <a:endParaRPr lang="en-US" altLang="en-US" sz="1800">
              <a:latin typeface="Times New Roman" panose="02020603050405020304" charset="0"/>
              <a:cs typeface="Times New Roman" panose="02020603050405020304" charset="0"/>
            </a:endParaRPr>
          </a:p>
          <a:p>
            <a:endParaRPr lang="en-US" altLang="en-US" sz="8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rPr>
              <a:t>Task 3:-</a:t>
            </a:r>
            <a:r>
              <a:rPr lang="en-US" altLang="en-US" sz="1800">
                <a:latin typeface="Times New Roman" panose="02020603050405020304" charset="0"/>
                <a:cs typeface="Times New Roman" panose="02020603050405020304" charset="0"/>
              </a:rPr>
              <a:t>Which car features are most important in determining a car's price? </a:t>
            </a:r>
            <a:endParaRPr lang="en-US" altLang="en-US" sz="18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800">
                <a:latin typeface="Times New Roman" panose="02020603050405020304" charset="0"/>
                <a:cs typeface="Times New Roman" panose="02020603050405020304" charset="0"/>
              </a:rPr>
              <a:t>Task :- Use regression analysis to identify the variables that have the strongest relationship with a car's price. Then create a bar chart that shows the coefficient values for each variable to visualize their relative importance.</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609600" y="295910"/>
            <a:ext cx="10972800" cy="5831840"/>
          </a:xfrm>
        </p:spPr>
        <p:txBody>
          <a:bodyPr/>
          <a:p>
            <a:pPr>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4:-</a:t>
            </a:r>
            <a:r>
              <a:rPr lang="en-US" altLang="en-US" sz="1800">
                <a:latin typeface="Times New Roman" panose="02020603050405020304" charset="0"/>
                <a:cs typeface="Times New Roman" panose="02020603050405020304" charset="0"/>
                <a:sym typeface="+mn-ea"/>
              </a:rPr>
              <a:t> How does the average price of a car vary across different manufacturers?</a:t>
            </a:r>
            <a:endParaRPr lang="en-US" altLang="en-US" sz="1800">
              <a:latin typeface="Times New Roman" panose="02020603050405020304" charset="0"/>
              <a:cs typeface="Times New Roman" panose="02020603050405020304" charset="0"/>
              <a:sym typeface="+mn-ea"/>
            </a:endParaRPr>
          </a:p>
          <a:p>
            <a:r>
              <a:rPr lang="en-US" altLang="en-US" sz="1800">
                <a:latin typeface="Times New Roman" panose="02020603050405020304" charset="0"/>
                <a:cs typeface="Times New Roman" panose="02020603050405020304" charset="0"/>
                <a:sym typeface="+mn-ea"/>
              </a:rPr>
              <a:t>Task 4.A:- Create a pivot table that shows the average price of cars for each manufacturer. </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sym typeface="+mn-ea"/>
              </a:rPr>
              <a:t>Task 4.B:- Create a bar chart or a horizontal stacked bar chart that visualizes the relationship between manufacturer and average price.</a:t>
            </a:r>
            <a:endParaRPr lang="en-US" altLang="en-US" sz="1800">
              <a:latin typeface="Times New Roman" panose="02020603050405020304" charset="0"/>
              <a:cs typeface="Times New Roman" panose="02020603050405020304" charset="0"/>
            </a:endParaRPr>
          </a:p>
          <a:p>
            <a:pPr marL="0" indent="0">
              <a:buNone/>
            </a:pPr>
            <a:endParaRPr lang="en-US" altLang="en-US" sz="1800">
              <a:latin typeface="Times New Roman" panose="02020603050405020304" charset="0"/>
              <a:cs typeface="Times New Roman" panose="02020603050405020304" charset="0"/>
            </a:endParaRPr>
          </a:p>
          <a:p>
            <a:pPr>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5:-</a:t>
            </a:r>
            <a:r>
              <a:rPr lang="en-US" altLang="en-US" sz="1800">
                <a:latin typeface="Times New Roman" panose="02020603050405020304" charset="0"/>
                <a:cs typeface="Times New Roman" panose="02020603050405020304" charset="0"/>
                <a:sym typeface="+mn-ea"/>
              </a:rPr>
              <a:t> What is the relationship between fuel efficiency and the number of cylinders in a car's engine?</a:t>
            </a:r>
            <a:endParaRPr lang="en-US" altLang="en-US" sz="1800">
              <a:latin typeface="Times New Roman" panose="02020603050405020304" charset="0"/>
              <a:cs typeface="Times New Roman" panose="02020603050405020304" charset="0"/>
              <a:sym typeface="+mn-ea"/>
            </a:endParaRPr>
          </a:p>
          <a:p>
            <a:r>
              <a:rPr lang="en-US" altLang="en-US" sz="1800">
                <a:latin typeface="Times New Roman" panose="02020603050405020304" charset="0"/>
                <a:cs typeface="Times New Roman" panose="02020603050405020304" charset="0"/>
                <a:sym typeface="+mn-ea"/>
              </a:rPr>
              <a:t>Task 5.A: Create a scatter plot with the number of cylinders on the x-axis and highway MPG on the y-axis. Then create a trendline on the scatter plot to visually estimate the slope of the relationship and assess its significance.</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sym typeface="+mn-ea"/>
              </a:rPr>
              <a:t>Task 5.B: Calculate the correlation coefficient between the number of cylinders and highway MPG to quantify the strength and direction of the relationship.</a:t>
            </a:r>
            <a:endParaRPr lang="en-US" altLang="en-US" sz="1800">
              <a:latin typeface="Times New Roman" panose="02020603050405020304" charset="0"/>
              <a:cs typeface="Times New Roman" panose="02020603050405020304" charset="0"/>
              <a:sym typeface="+mn-ea"/>
            </a:endParaRPr>
          </a:p>
          <a:p>
            <a:pPr marL="0" indent="0">
              <a:buNone/>
            </a:pPr>
            <a:endParaRPr lang="en-US" altLang="en-US" sz="800">
              <a:latin typeface="Times New Roman" panose="02020603050405020304" charset="0"/>
              <a:cs typeface="Times New Roman" panose="02020603050405020304" charset="0"/>
            </a:endParaRPr>
          </a:p>
          <a:p>
            <a:pPr>
              <a:buFont typeface="Wingdings" panose="05000000000000000000" charset="0"/>
              <a:buChar char="v"/>
            </a:pPr>
            <a:r>
              <a:rPr lang="en-US" altLang="en-US" sz="1800" b="1">
                <a:solidFill>
                  <a:srgbClr val="F7860C"/>
                </a:solidFill>
                <a:latin typeface="Times New Roman" panose="02020603050405020304" charset="0"/>
                <a:cs typeface="Times New Roman" panose="02020603050405020304" charset="0"/>
              </a:rPr>
              <a:t>Building the Dashboard:-</a:t>
            </a:r>
            <a:endParaRPr lang="en-US" altLang="en-US" sz="1800" b="1">
              <a:solidFill>
                <a:srgbClr val="F7860C"/>
              </a:solidFill>
              <a:latin typeface="Times New Roman" panose="02020603050405020304" charset="0"/>
              <a:cs typeface="Times New Roman" panose="02020603050405020304" charset="0"/>
            </a:endParaRPr>
          </a:p>
          <a:p>
            <a:pPr>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rPr>
              <a:t>Task 1:-</a:t>
            </a:r>
            <a:r>
              <a:rPr lang="en-US" altLang="en-US" sz="1800">
                <a:solidFill>
                  <a:srgbClr val="F7860C"/>
                </a:solidFill>
                <a:latin typeface="Times New Roman" panose="02020603050405020304" charset="0"/>
                <a:cs typeface="Times New Roman" panose="02020603050405020304" charset="0"/>
              </a:rPr>
              <a:t> </a:t>
            </a:r>
            <a:r>
              <a:rPr lang="en-US" altLang="en-US" sz="1800">
                <a:latin typeface="Times New Roman" panose="02020603050405020304" charset="0"/>
                <a:cs typeface="Times New Roman" panose="02020603050405020304" charset="0"/>
              </a:rPr>
              <a:t>How does the distribution of car prices vary by brand and body style?</a:t>
            </a:r>
            <a:endParaRPr lang="en-US" altLang="en-US" sz="1800">
              <a:latin typeface="Times New Roman" panose="02020603050405020304" charset="0"/>
              <a:cs typeface="Times New Roman" panose="02020603050405020304" charset="0"/>
            </a:endParaRPr>
          </a:p>
          <a:p>
            <a:pPr marL="0" indent="0">
              <a:buFont typeface="Wingdings" panose="05000000000000000000" charset="0"/>
              <a:buNone/>
            </a:pPr>
            <a:r>
              <a:rPr lang="en-US" altLang="en-US" sz="1800">
                <a:latin typeface="Times New Roman" panose="02020603050405020304" charset="0"/>
                <a:cs typeface="Times New Roman" panose="02020603050405020304" charset="0"/>
              </a:rPr>
              <a:t>      Hints:- Stacked column chart to show the distribution of car prices by brand and body style. Use filters and slicers to make the chart interactive. Calculate the total MSRP for each brand and body style using SUMIF or Pivot Tables.</a:t>
            </a:r>
            <a:endParaRPr lang="en-US" altLang="en-US" sz="1800">
              <a:latin typeface="Times New Roman" panose="02020603050405020304" charset="0"/>
              <a:cs typeface="Times New Roman" panose="02020603050405020304" charset="0"/>
            </a:endParaRPr>
          </a:p>
          <a:p>
            <a:pPr marL="0" indent="0">
              <a:buFont typeface="Wingdings" panose="05000000000000000000" charset="0"/>
              <a:buNone/>
            </a:pPr>
            <a:endParaRPr lang="en-US" altLang="en-US" sz="800">
              <a:latin typeface="Times New Roman" panose="02020603050405020304" charset="0"/>
              <a:cs typeface="Times New Roman" panose="02020603050405020304" charset="0"/>
            </a:endParaRPr>
          </a:p>
          <a:p>
            <a:pPr>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rPr>
              <a:t>Task 2:-</a:t>
            </a:r>
            <a:r>
              <a:rPr lang="en-US" altLang="en-US" sz="1800">
                <a:solidFill>
                  <a:srgbClr val="F7860C"/>
                </a:solidFill>
                <a:latin typeface="Times New Roman" panose="02020603050405020304" charset="0"/>
                <a:cs typeface="Times New Roman" panose="02020603050405020304" charset="0"/>
              </a:rPr>
              <a:t> </a:t>
            </a:r>
            <a:r>
              <a:rPr lang="en-US" altLang="en-US" sz="1800">
                <a:latin typeface="Times New Roman" panose="02020603050405020304" charset="0"/>
                <a:cs typeface="Times New Roman" panose="02020603050405020304" charset="0"/>
              </a:rPr>
              <a:t>Which car brands have the highest and lowest average MSRPs, and how does this vary by body style?</a:t>
            </a:r>
            <a:endParaRPr lang="en-US" altLang="en-US" sz="1800">
              <a:latin typeface="Times New Roman" panose="02020603050405020304" charset="0"/>
              <a:cs typeface="Times New Roman" panose="02020603050405020304" charset="0"/>
            </a:endParaRPr>
          </a:p>
          <a:p>
            <a:pPr marL="0" indent="0">
              <a:buFont typeface="Wingdings" panose="05000000000000000000" charset="0"/>
              <a:buNone/>
            </a:pPr>
            <a:r>
              <a:rPr lang="en-US" altLang="en-US" sz="1800">
                <a:latin typeface="Times New Roman" panose="02020603050405020304" charset="0"/>
                <a:cs typeface="Times New Roman" panose="02020603050405020304" charset="0"/>
              </a:rPr>
              <a:t>      Hints:- Clustered column chart to compare the average MSRPs across different car brands and body styles. Calculate the average MSRP for each brand and body style using AVERAGEIF or Pivot Tables.</a:t>
            </a:r>
            <a:endParaRPr lang="en-US" altLang="en-US" sz="18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nvPr>
        </p:nvSpPr>
        <p:spPr>
          <a:xfrm>
            <a:off x="609600" y="558800"/>
            <a:ext cx="10972800" cy="5568950"/>
          </a:xfrm>
        </p:spPr>
        <p:txBody>
          <a:bodyPr/>
          <a:p>
            <a:pPr>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rPr>
              <a:t>Task 3:-</a:t>
            </a:r>
            <a:r>
              <a:rPr lang="en-US" altLang="en-US" sz="1800">
                <a:latin typeface="Times New Roman" panose="02020603050405020304" charset="0"/>
                <a:cs typeface="Times New Roman" panose="02020603050405020304" charset="0"/>
              </a:rPr>
              <a:t> How do the different feature such as transmission type affect the MSRP, and how does this vary by body style?</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Hints:- Scatter plot chart to visualize the relationship between MSRP and transmission type, with different symbols for each body style. Calculate the average MSRP for each combination of transmission type and body style using AVERAGEIFS or Pivot Tables.</a:t>
            </a:r>
            <a:endParaRPr lang="en-US" altLang="en-US" sz="1800">
              <a:latin typeface="Times New Roman" panose="02020603050405020304" charset="0"/>
              <a:cs typeface="Times New Roman" panose="02020603050405020304" charset="0"/>
            </a:endParaRPr>
          </a:p>
          <a:p>
            <a:pPr marL="0" indent="0">
              <a:buNone/>
            </a:pPr>
            <a:endParaRPr lang="en-US" altLang="en-US" sz="1800">
              <a:latin typeface="Times New Roman" panose="02020603050405020304" charset="0"/>
              <a:cs typeface="Times New Roman" panose="02020603050405020304" charset="0"/>
            </a:endParaRPr>
          </a:p>
          <a:p>
            <a:pPr>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rPr>
              <a:t>Task 4:-</a:t>
            </a:r>
            <a:r>
              <a:rPr lang="en-US" altLang="en-US" sz="1800">
                <a:latin typeface="Times New Roman" panose="02020603050405020304" charset="0"/>
                <a:cs typeface="Times New Roman" panose="02020603050405020304" charset="0"/>
              </a:rPr>
              <a:t> How does the fuel efficiency of cars vary across different body styles and model years? </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Hints:- Line chart to show the trend of fuel efficiency (MPG) over time for each body style. Calculate the average MPG for each combination of body style and model year using AVERAGEIFS or Pivot Tables.</a:t>
            </a:r>
            <a:endParaRPr lang="en-US" altLang="en-US" sz="1800">
              <a:latin typeface="Times New Roman" panose="02020603050405020304" charset="0"/>
              <a:cs typeface="Times New Roman" panose="02020603050405020304" charset="0"/>
            </a:endParaRPr>
          </a:p>
          <a:p>
            <a:pPr marL="0" indent="0">
              <a:buNone/>
            </a:pPr>
            <a:endParaRPr lang="en-US" altLang="en-US" sz="1800">
              <a:latin typeface="Times New Roman" panose="02020603050405020304" charset="0"/>
              <a:cs typeface="Times New Roman" panose="02020603050405020304" charset="0"/>
            </a:endParaRPr>
          </a:p>
          <a:p>
            <a:pPr>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rPr>
              <a:t>Task 5:-</a:t>
            </a:r>
            <a:r>
              <a:rPr lang="en-US" altLang="en-US" sz="1800">
                <a:latin typeface="Times New Roman" panose="02020603050405020304" charset="0"/>
                <a:cs typeface="Times New Roman" panose="02020603050405020304" charset="0"/>
              </a:rPr>
              <a:t> How does the car's horsepower, MPG, and price vary across different Brands?</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Hints:- Bubble chart to visualize the relationship between horsepower, MPG, and price across different car brands. Assign different colors to each brand and label the bubbles with the car model name. Calculate the average horsepower, MPG, and MSRP for each car brand using AVERAGEIFS or Pivot Tables.</a:t>
            </a:r>
            <a:endParaRPr lang="en-US" altLang="en-US" sz="18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271270"/>
          </a:xfrm>
        </p:spPr>
        <p:txBody>
          <a:bodyPr/>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1:-</a:t>
            </a:r>
            <a:r>
              <a:rPr lang="en-US" altLang="en-US" sz="1800">
                <a:latin typeface="Times New Roman" panose="02020603050405020304" charset="0"/>
                <a:cs typeface="Times New Roman" panose="02020603050405020304" charset="0"/>
                <a:sym typeface="+mn-ea"/>
              </a:rPr>
              <a:t>How does the popularity of a car model vary across different market categories?</a:t>
            </a:r>
            <a:br>
              <a:rPr lang="en-US" altLang="en-US" sz="1800">
                <a:latin typeface="Times New Roman" panose="02020603050405020304" charset="0"/>
                <a:cs typeface="Times New Roman" panose="02020603050405020304" charset="0"/>
              </a:rPr>
            </a:br>
            <a:r>
              <a:rPr lang="en-US" altLang="en-US" sz="1800" b="1">
                <a:latin typeface="Times New Roman" panose="02020603050405020304" charset="0"/>
                <a:cs typeface="Times New Roman" panose="02020603050405020304" charset="0"/>
                <a:sym typeface="+mn-ea"/>
              </a:rPr>
              <a:t>Task 1.A:-</a:t>
            </a:r>
            <a:r>
              <a:rPr lang="en-US" altLang="en-US" sz="1800">
                <a:latin typeface="Times New Roman" panose="02020603050405020304" charset="0"/>
                <a:cs typeface="Times New Roman" panose="02020603050405020304" charset="0"/>
                <a:sym typeface="+mn-ea"/>
              </a:rPr>
              <a:t> Create a pivot table that shows the number of car models in each market category and their corresponding popularity scores.</a:t>
            </a:r>
            <a:br>
              <a:rPr lang="en-US" altLang="en-US" sz="1800">
                <a:latin typeface="Times New Roman" panose="02020603050405020304" charset="0"/>
                <a:cs typeface="Times New Roman" panose="02020603050405020304" charset="0"/>
              </a:rPr>
            </a:br>
            <a:r>
              <a:rPr lang="en-US" altLang="en-US" sz="1800" b="1">
                <a:latin typeface="Times New Roman" panose="02020603050405020304" charset="0"/>
                <a:cs typeface="Times New Roman" panose="02020603050405020304" charset="0"/>
                <a:sym typeface="+mn-ea"/>
              </a:rPr>
              <a:t>Task 1.B:-</a:t>
            </a:r>
            <a:r>
              <a:rPr lang="en-US" altLang="en-US" sz="1800">
                <a:latin typeface="Times New Roman" panose="02020603050405020304" charset="0"/>
                <a:cs typeface="Times New Roman" panose="02020603050405020304" charset="0"/>
                <a:sym typeface="+mn-ea"/>
              </a:rPr>
              <a:t> Create a combo chart that visualizes the relationship between market category and popularity.</a:t>
            </a:r>
            <a:endParaRPr lang="en-US" sz="1800">
              <a:latin typeface="Times New Roman" panose="02020603050405020304" charset="0"/>
              <a:cs typeface="Times New Roman" panose="02020603050405020304" charset="0"/>
            </a:endParaRPr>
          </a:p>
        </p:txBody>
      </p:sp>
      <p:sp>
        <p:nvSpPr>
          <p:cNvPr id="5" name="Content Placeholder 4"/>
          <p:cNvSpPr>
            <a:spLocks noGrp="1"/>
          </p:cNvSpPr>
          <p:nvPr>
            <p:ph idx="1"/>
          </p:nvPr>
        </p:nvSpPr>
        <p:spPr>
          <a:xfrm>
            <a:off x="609600" y="1599565"/>
            <a:ext cx="10972800" cy="4528185"/>
          </a:xfrm>
        </p:spPr>
        <p:txBody>
          <a:bodyPr/>
          <a:p>
            <a:r>
              <a:rPr lang="en-US" sz="1800" b="1">
                <a:solidFill>
                  <a:srgbClr val="F7860C"/>
                </a:solidFill>
                <a:latin typeface="Times New Roman" panose="02020603050405020304" charset="0"/>
                <a:cs typeface="Times New Roman" panose="02020603050405020304" charset="0"/>
              </a:rPr>
              <a:t>Process:- </a:t>
            </a:r>
            <a:endParaRPr lang="en-US" sz="1800" b="1">
              <a:solidFill>
                <a:srgbClr val="F7860C"/>
              </a:solidFill>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First we use the Pivot table function putting Market Category in Rows and Model &amp; Popularity in values.</a:t>
            </a:r>
            <a:endParaRPr lang="en-US" sz="1800">
              <a:latin typeface="Times New Roman" panose="02020603050405020304" charset="0"/>
              <a:cs typeface="Times New Roman" panose="02020603050405020304" charset="0"/>
            </a:endParaRPr>
          </a:p>
          <a:p>
            <a:pPr marL="0" indent="0">
              <a:buNone/>
            </a:pPr>
            <a:r>
              <a:rPr lang="en-US" sz="1800">
                <a:latin typeface="Times New Roman" panose="02020603050405020304" charset="0"/>
                <a:cs typeface="Times New Roman" panose="02020603050405020304" charset="0"/>
              </a:rPr>
              <a:t>also take Count of Model and Average Popularity by using Value field setting.</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We also take a slicer for Make i.e Car Company.</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We use the column chart of visuliation.</a:t>
            </a:r>
            <a:endParaRPr lang="en-US" sz="1800">
              <a:latin typeface="Times New Roman" panose="02020603050405020304" charset="0"/>
              <a:cs typeface="Times New Roman" panose="02020603050405020304" charset="0"/>
            </a:endParaRPr>
          </a:p>
          <a:p>
            <a:pPr marL="0" indent="0">
              <a:buNone/>
            </a:pPr>
            <a:endParaRPr lang="en-US" sz="800">
              <a:latin typeface="Times New Roman" panose="02020603050405020304" charset="0"/>
              <a:cs typeface="Times New Roman" panose="02020603050405020304" charset="0"/>
            </a:endParaRPr>
          </a:p>
          <a:p>
            <a:r>
              <a:rPr lang="en-US" sz="1800" b="1">
                <a:highlight>
                  <a:srgbClr val="FFFF00"/>
                </a:highlight>
                <a:latin typeface="Times New Roman" panose="02020603050405020304" charset="0"/>
                <a:cs typeface="Times New Roman" panose="02020603050405020304" charset="0"/>
              </a:rPr>
              <a:t>Result:-</a:t>
            </a:r>
            <a:r>
              <a:rPr lang="en-US" sz="1800">
                <a:highlight>
                  <a:srgbClr val="FFFF00"/>
                </a:highlight>
                <a:latin typeface="Times New Roman" panose="02020603050405020304" charset="0"/>
                <a:cs typeface="Times New Roman" panose="02020603050405020304" charset="0"/>
              </a:rPr>
              <a:t> </a:t>
            </a:r>
            <a:r>
              <a:rPr lang="en-US" altLang="en-US" sz="1800">
                <a:highlight>
                  <a:srgbClr val="FFFF00"/>
                </a:highlight>
                <a:latin typeface="Times New Roman" panose="02020603050405020304" charset="0"/>
                <a:cs typeface="Times New Roman" panose="02020603050405020304" charset="0"/>
              </a:rPr>
              <a:t>Crossover,Flex Fuel,Performance; Flex Fuel,Diesel; &amp; Hatchback,Flex Fuel are the most populer market Categarys of cars.</a:t>
            </a:r>
            <a:endParaRPr lang="en-US" altLang="en-US" sz="1800">
              <a:highlight>
                <a:srgbClr val="FFFF00"/>
              </a:highlight>
              <a:latin typeface="Times New Roman" panose="02020603050405020304" charset="0"/>
              <a:cs typeface="Times New Roman" panose="02020603050405020304" charset="0"/>
            </a:endParaRPr>
          </a:p>
        </p:txBody>
      </p:sp>
      <p:sp>
        <p:nvSpPr>
          <p:cNvPr id="6" name="Text Box 5"/>
          <p:cNvSpPr txBox="1"/>
          <p:nvPr/>
        </p:nvSpPr>
        <p:spPr>
          <a:xfrm>
            <a:off x="610235" y="4571365"/>
            <a:ext cx="10877550" cy="1463675"/>
          </a:xfrm>
          <a:prstGeom prst="rect">
            <a:avLst/>
          </a:prstGeom>
          <a:noFill/>
          <a:ln>
            <a:solidFill>
              <a:schemeClr val="tx1"/>
            </a:solidFill>
          </a:ln>
        </p:spPr>
        <p:txBody>
          <a:bodyPr wrap="square" rtlCol="0">
            <a:noAutofit/>
          </a:bodyPr>
          <a:p>
            <a:pPr marL="285750" indent="-285750">
              <a:buFont typeface="Wingdings" panose="05000000000000000000" charset="0"/>
              <a:buChar char="v"/>
            </a:pPr>
            <a:r>
              <a:rPr lang="en-US" altLang="en-US" b="1">
                <a:solidFill>
                  <a:srgbClr val="F7860C"/>
                </a:solidFill>
                <a:latin typeface="Times New Roman" panose="02020603050405020304" charset="0"/>
                <a:cs typeface="Times New Roman" panose="02020603050405020304" charset="0"/>
              </a:rPr>
              <a:t>MICROSOFT EXCEL FILE:-</a:t>
            </a:r>
            <a:r>
              <a:rPr lang="en-US" altLang="en-US">
                <a:solidFill>
                  <a:srgbClr val="0945A5"/>
                </a:solidFill>
                <a:latin typeface="Times New Roman" panose="02020603050405020304" charset="0"/>
                <a:cs typeface="Times New Roman" panose="02020603050405020304" charset="0"/>
              </a:rPr>
              <a:t>https://docs.google.com/spreadsheets/d/1AXEN7ZavvI2flP0aMnhRSenWHz6BH7jO/edit?usp=drive_link&amp;ouid=103974361659264463652&amp;rtpof=true&amp;sd=true</a:t>
            </a:r>
            <a:endParaRPr lang="en-US" altLang="en-US">
              <a:solidFill>
                <a:srgbClr val="0945A5"/>
              </a:solidFill>
              <a:latin typeface="Times New Roman" panose="02020603050405020304" charset="0"/>
              <a:cs typeface="Times New Roman" panose="02020603050405020304" charset="0"/>
            </a:endParaRPr>
          </a:p>
          <a:p>
            <a:pPr marL="285750" indent="-285750">
              <a:buFont typeface="Wingdings" panose="05000000000000000000" charset="0"/>
              <a:buChar char="v"/>
            </a:pPr>
            <a:r>
              <a:rPr lang="en-US" altLang="en-US" b="1">
                <a:solidFill>
                  <a:srgbClr val="F7860C"/>
                </a:solidFill>
                <a:latin typeface="Times New Roman" panose="02020603050405020304" charset="0"/>
                <a:cs typeface="Times New Roman" panose="02020603050405020304" charset="0"/>
              </a:rPr>
              <a:t>LOOM VIDEO LINK:-</a:t>
            </a:r>
            <a:r>
              <a:rPr lang="en-US" altLang="en-US">
                <a:solidFill>
                  <a:srgbClr val="0945A5"/>
                </a:solidFill>
                <a:latin typeface="Times New Roman" panose="02020603050405020304" charset="0"/>
                <a:cs typeface="Times New Roman" panose="02020603050405020304" charset="0"/>
              </a:rPr>
              <a:t>https://www.loom.com/share/6f460cabab11478cbf42a6340b2e8500?sid=2441aa93-a136-4031-84d1-41c52808086d</a:t>
            </a:r>
            <a:endParaRPr lang="en-US" altLang="en-US">
              <a:solidFill>
                <a:srgbClr val="0945A5"/>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4" descr="Task-1"/>
          <p:cNvPicPr>
            <a:picLocks noChangeAspect="1"/>
          </p:cNvPicPr>
          <p:nvPr>
            <p:ph idx="1"/>
          </p:nvPr>
        </p:nvPicPr>
        <p:blipFill>
          <a:blip r:embed="rId1"/>
          <a:srcRect l="15901" t="28047" r="7583" b="11295"/>
          <a:stretch>
            <a:fillRect/>
          </a:stretch>
        </p:blipFill>
        <p:spPr>
          <a:xfrm>
            <a:off x="835025" y="439420"/>
            <a:ext cx="10374630" cy="52857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984250"/>
          </a:xfrm>
        </p:spPr>
        <p:txBody>
          <a:bodyPr/>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2:- </a:t>
            </a:r>
            <a:r>
              <a:rPr lang="en-US" altLang="en-US" sz="1800">
                <a:latin typeface="Times New Roman" panose="02020603050405020304" charset="0"/>
                <a:cs typeface="Times New Roman" panose="02020603050405020304" charset="0"/>
                <a:sym typeface="+mn-ea"/>
              </a:rPr>
              <a:t>What is the relationship between a car's engine power and its price?</a:t>
            </a:r>
            <a:br>
              <a:rPr lang="en-US" altLang="en-US" sz="1800">
                <a:latin typeface="Times New Roman" panose="02020603050405020304" charset="0"/>
                <a:cs typeface="Times New Roman" panose="02020603050405020304" charset="0"/>
              </a:rPr>
            </a:br>
            <a:r>
              <a:rPr lang="en-US" altLang="en-US" sz="1800" b="1">
                <a:solidFill>
                  <a:schemeClr val="tx1"/>
                </a:solidFill>
                <a:latin typeface="Times New Roman" panose="02020603050405020304" charset="0"/>
                <a:cs typeface="Times New Roman" panose="02020603050405020304" charset="0"/>
                <a:sym typeface="+mn-ea"/>
              </a:rPr>
              <a:t>Task:- </a:t>
            </a:r>
            <a:r>
              <a:rPr lang="en-US" altLang="en-US" sz="1800" b="1">
                <a:latin typeface="Times New Roman" panose="02020603050405020304" charset="0"/>
                <a:cs typeface="Times New Roman" panose="02020603050405020304" charset="0"/>
                <a:sym typeface="+mn-ea"/>
              </a:rPr>
              <a:t> </a:t>
            </a:r>
            <a:r>
              <a:rPr lang="en-US" altLang="en-US" sz="1800">
                <a:latin typeface="Times New Roman" panose="02020603050405020304" charset="0"/>
                <a:cs typeface="Times New Roman" panose="02020603050405020304" charset="0"/>
                <a:sym typeface="+mn-ea"/>
              </a:rPr>
              <a:t>Create a scatter chart that plots engine power on the x-axis and price on the y-axis. Add a trendline to the chart to visualize the relationship between these variables.</a:t>
            </a:r>
            <a:endParaRPr lang="en-US" sz="1800">
              <a:latin typeface="Times New Roman" panose="02020603050405020304" charset="0"/>
              <a:cs typeface="Times New Roman" panose="02020603050405020304" charset="0"/>
            </a:endParaRPr>
          </a:p>
        </p:txBody>
      </p:sp>
      <p:sp>
        <p:nvSpPr>
          <p:cNvPr id="7" name="Content Placeholder 6"/>
          <p:cNvSpPr/>
          <p:nvPr>
            <p:ph sz="half" idx="1"/>
          </p:nvPr>
        </p:nvSpPr>
        <p:spPr>
          <a:xfrm>
            <a:off x="609600" y="1263015"/>
            <a:ext cx="10791825" cy="512445"/>
          </a:xfrm>
        </p:spPr>
        <p:txBody>
          <a:bodyPr/>
          <a:p>
            <a:r>
              <a:rPr lang="en-US" sz="1800" b="1">
                <a:highlight>
                  <a:srgbClr val="FFFF00"/>
                </a:highlight>
                <a:latin typeface="Times New Roman" panose="02020603050405020304" charset="0"/>
                <a:cs typeface="Times New Roman" panose="02020603050405020304" charset="0"/>
              </a:rPr>
              <a:t>Result:- </a:t>
            </a:r>
            <a:r>
              <a:rPr lang="en-US" sz="1800">
                <a:highlight>
                  <a:srgbClr val="FFFF00"/>
                </a:highlight>
                <a:latin typeface="Times New Roman" panose="02020603050405020304" charset="0"/>
                <a:cs typeface="Times New Roman" panose="02020603050405020304" charset="0"/>
              </a:rPr>
              <a:t>The Price of car increase with increase in Car Engine Power.</a:t>
            </a:r>
            <a:endParaRPr lang="en-US" sz="1800">
              <a:highlight>
                <a:srgbClr val="FFFF00"/>
              </a:highlight>
              <a:latin typeface="Times New Roman" panose="02020603050405020304" charset="0"/>
              <a:cs typeface="Times New Roman" panose="02020603050405020304" charset="0"/>
            </a:endParaRPr>
          </a:p>
        </p:txBody>
      </p:sp>
      <p:pic>
        <p:nvPicPr>
          <p:cNvPr id="8" name="Content Placeholder 7" descr="Task-2"/>
          <p:cNvPicPr>
            <a:picLocks noChangeAspect="1"/>
          </p:cNvPicPr>
          <p:nvPr>
            <p:ph sz="half" idx="2"/>
          </p:nvPr>
        </p:nvPicPr>
        <p:blipFill>
          <a:blip r:embed="rId1"/>
          <a:srcRect l="21861" t="30552" r="13480" b="14501"/>
          <a:stretch>
            <a:fillRect/>
          </a:stretch>
        </p:blipFill>
        <p:spPr>
          <a:xfrm>
            <a:off x="1457960" y="1775460"/>
            <a:ext cx="9276080" cy="42640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984250"/>
          </a:xfrm>
        </p:spPr>
        <p:txBody>
          <a:bodyPr/>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3:-</a:t>
            </a:r>
            <a:r>
              <a:rPr lang="en-US" altLang="en-US" sz="1800">
                <a:latin typeface="Times New Roman" panose="02020603050405020304" charset="0"/>
                <a:cs typeface="Times New Roman" panose="02020603050405020304" charset="0"/>
                <a:sym typeface="+mn-ea"/>
              </a:rPr>
              <a:t>Which car features are most important in determining a car's price? </a:t>
            </a:r>
            <a:br>
              <a:rPr lang="en-US" altLang="en-US" sz="1800">
                <a:latin typeface="Times New Roman" panose="02020603050405020304" charset="0"/>
                <a:cs typeface="Times New Roman" panose="02020603050405020304" charset="0"/>
              </a:rPr>
            </a:br>
            <a:r>
              <a:rPr lang="en-US" altLang="en-US" sz="1800" b="1">
                <a:latin typeface="Times New Roman" panose="02020603050405020304" charset="0"/>
                <a:cs typeface="Times New Roman" panose="02020603050405020304" charset="0"/>
                <a:sym typeface="+mn-ea"/>
              </a:rPr>
              <a:t>Task :-</a:t>
            </a:r>
            <a:r>
              <a:rPr lang="en-US" altLang="en-US" sz="1800">
                <a:latin typeface="Times New Roman" panose="02020603050405020304" charset="0"/>
                <a:cs typeface="Times New Roman" panose="02020603050405020304" charset="0"/>
                <a:sym typeface="+mn-ea"/>
              </a:rPr>
              <a:t> Use regression analysis to identify the variables that have the strongest relationship with a car's price. Then create a bar chart that shows the coefficient values for each variable to visualize their relative importance.</a:t>
            </a:r>
            <a:endParaRPr lang="en-US" sz="1800">
              <a:latin typeface="Times New Roman" panose="02020603050405020304" charset="0"/>
              <a:cs typeface="Times New Roman" panose="02020603050405020304" charset="0"/>
            </a:endParaRPr>
          </a:p>
        </p:txBody>
      </p:sp>
      <p:sp>
        <p:nvSpPr>
          <p:cNvPr id="5" name="Content Placeholder 4"/>
          <p:cNvSpPr>
            <a:spLocks noGrp="1"/>
          </p:cNvSpPr>
          <p:nvPr>
            <p:ph sz="half" idx="1"/>
          </p:nvPr>
        </p:nvSpPr>
        <p:spPr>
          <a:xfrm>
            <a:off x="609600" y="1174750"/>
            <a:ext cx="10528300" cy="1450340"/>
          </a:xfrm>
        </p:spPr>
        <p:txBody>
          <a:bodyPr/>
          <a:p>
            <a:r>
              <a:rPr lang="en-US" sz="1800" b="1">
                <a:solidFill>
                  <a:srgbClr val="F7860C"/>
                </a:solidFill>
                <a:latin typeface="Times New Roman" panose="02020603050405020304" charset="0"/>
                <a:cs typeface="Times New Roman" panose="02020603050405020304" charset="0"/>
              </a:rPr>
              <a:t>Process:- </a:t>
            </a:r>
            <a:endParaRPr lang="en-US" sz="1800" b="1">
              <a:solidFill>
                <a:srgbClr val="F7860C"/>
              </a:solidFill>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First we use the CORREL function for finding corelations.</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Then, we go to data bar select data analysis and select the Regreassion function.</a:t>
            </a:r>
            <a:endParaRPr lang="en-US" sz="1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After that, we get the coefficient values and finally we use Stacked Column chart.</a:t>
            </a:r>
            <a:endParaRPr lang="en-US" sz="1800">
              <a:latin typeface="Times New Roman" panose="02020603050405020304" charset="0"/>
              <a:cs typeface="Times New Roman" panose="02020603050405020304" charset="0"/>
            </a:endParaRPr>
          </a:p>
        </p:txBody>
      </p:sp>
      <p:pic>
        <p:nvPicPr>
          <p:cNvPr id="7" name="Content Placeholder 6" descr="Task-3A"/>
          <p:cNvPicPr>
            <a:picLocks noChangeAspect="1"/>
          </p:cNvPicPr>
          <p:nvPr>
            <p:ph sz="half" idx="2"/>
          </p:nvPr>
        </p:nvPicPr>
        <p:blipFill>
          <a:blip r:embed="rId1"/>
          <a:srcRect l="23679" t="28613" r="21073" b="16677"/>
          <a:stretch>
            <a:fillRect/>
          </a:stretch>
        </p:blipFill>
        <p:spPr>
          <a:xfrm>
            <a:off x="1641475" y="2625090"/>
            <a:ext cx="8909050" cy="37077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pPr marL="285750" indent="-285750">
              <a:buFont typeface="Arial" panose="020B0604020202020204" pitchFamily="34" charset="0"/>
              <a:buChar char="•"/>
            </a:pPr>
            <a:r>
              <a:rPr lang="en-US" sz="1800" b="1">
                <a:highlight>
                  <a:srgbClr val="FFFF00"/>
                </a:highlight>
                <a:latin typeface="Times New Roman" panose="02020603050405020304" charset="0"/>
                <a:cs typeface="Times New Roman" panose="02020603050405020304" charset="0"/>
              </a:rPr>
              <a:t>Result:- </a:t>
            </a:r>
            <a:r>
              <a:rPr lang="en-US" sz="1800">
                <a:highlight>
                  <a:srgbClr val="FFFF00"/>
                </a:highlight>
                <a:latin typeface="Times New Roman" panose="02020603050405020304" charset="0"/>
                <a:cs typeface="Times New Roman" panose="02020603050405020304" charset="0"/>
              </a:rPr>
              <a:t>The car Engine Cylinders and HP is the most important car feature to determine the car price. </a:t>
            </a:r>
            <a:endParaRPr lang="en-US" sz="1800">
              <a:highlight>
                <a:srgbClr val="FFFF00"/>
              </a:highlight>
              <a:latin typeface="Times New Roman" panose="02020603050405020304" charset="0"/>
              <a:cs typeface="Times New Roman" panose="02020603050405020304" charset="0"/>
            </a:endParaRPr>
          </a:p>
        </p:txBody>
      </p:sp>
      <p:pic>
        <p:nvPicPr>
          <p:cNvPr id="6" name="Content Placeholder 5" descr="Task-3B"/>
          <p:cNvPicPr>
            <a:picLocks noChangeAspect="1"/>
          </p:cNvPicPr>
          <p:nvPr>
            <p:ph idx="1"/>
          </p:nvPr>
        </p:nvPicPr>
        <p:blipFill>
          <a:blip r:embed="rId1"/>
          <a:srcRect l="19390" t="30115" r="23722" b="11897"/>
          <a:stretch>
            <a:fillRect/>
          </a:stretch>
        </p:blipFill>
        <p:spPr>
          <a:xfrm>
            <a:off x="1640205" y="909320"/>
            <a:ext cx="9113520" cy="52190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296670"/>
          </a:xfrm>
        </p:spPr>
        <p:txBody>
          <a:bodyPr/>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4:-</a:t>
            </a:r>
            <a:r>
              <a:rPr lang="en-US" altLang="en-US" sz="1800" b="1">
                <a:latin typeface="Times New Roman" panose="02020603050405020304" charset="0"/>
                <a:cs typeface="Times New Roman" panose="02020603050405020304" charset="0"/>
                <a:sym typeface="+mn-ea"/>
              </a:rPr>
              <a:t> </a:t>
            </a:r>
            <a:r>
              <a:rPr lang="en-US" altLang="en-US" sz="1800">
                <a:latin typeface="Times New Roman" panose="02020603050405020304" charset="0"/>
                <a:cs typeface="Times New Roman" panose="02020603050405020304" charset="0"/>
                <a:sym typeface="+mn-ea"/>
              </a:rPr>
              <a:t>How does the average price of a car vary across different manufacturers?</a:t>
            </a:r>
            <a:br>
              <a:rPr lang="en-US" altLang="en-US" sz="1800">
                <a:latin typeface="Times New Roman" panose="02020603050405020304" charset="0"/>
                <a:cs typeface="Times New Roman" panose="02020603050405020304" charset="0"/>
                <a:sym typeface="+mn-ea"/>
              </a:rPr>
            </a:br>
            <a:r>
              <a:rPr lang="en-US" altLang="en-US" sz="1800" b="1">
                <a:latin typeface="Times New Roman" panose="02020603050405020304" charset="0"/>
                <a:cs typeface="Times New Roman" panose="02020603050405020304" charset="0"/>
                <a:sym typeface="+mn-ea"/>
              </a:rPr>
              <a:t>Task 4.A:- </a:t>
            </a:r>
            <a:r>
              <a:rPr lang="en-US" altLang="en-US" sz="1800">
                <a:latin typeface="Times New Roman" panose="02020603050405020304" charset="0"/>
                <a:cs typeface="Times New Roman" panose="02020603050405020304" charset="0"/>
                <a:sym typeface="+mn-ea"/>
              </a:rPr>
              <a:t>Create a pivot table that shows the average price of cars for each manufacturer. </a:t>
            </a:r>
            <a:br>
              <a:rPr lang="en-US" altLang="en-US" sz="1800">
                <a:latin typeface="Times New Roman" panose="02020603050405020304" charset="0"/>
                <a:cs typeface="Times New Roman" panose="02020603050405020304" charset="0"/>
              </a:rPr>
            </a:br>
            <a:r>
              <a:rPr lang="en-US" altLang="en-US" sz="1800" b="1">
                <a:latin typeface="Times New Roman" panose="02020603050405020304" charset="0"/>
                <a:cs typeface="Times New Roman" panose="02020603050405020304" charset="0"/>
                <a:sym typeface="+mn-ea"/>
              </a:rPr>
              <a:t>Task 4.B:-</a:t>
            </a:r>
            <a:r>
              <a:rPr lang="en-US" altLang="en-US" sz="1800">
                <a:latin typeface="Times New Roman" panose="02020603050405020304" charset="0"/>
                <a:cs typeface="Times New Roman" panose="02020603050405020304" charset="0"/>
                <a:sym typeface="+mn-ea"/>
              </a:rPr>
              <a:t> Create a bar chart or a horizontal stacked bar chart that visualizes the relationship between manufacturer and average price.</a:t>
            </a:r>
            <a:endParaRPr lang="en-US" sz="1800">
              <a:latin typeface="Times New Roman" panose="02020603050405020304" charset="0"/>
              <a:cs typeface="Times New Roman" panose="02020603050405020304" charset="0"/>
            </a:endParaRPr>
          </a:p>
        </p:txBody>
      </p:sp>
      <p:sp>
        <p:nvSpPr>
          <p:cNvPr id="3" name="Text Box 2"/>
          <p:cNvSpPr txBox="1"/>
          <p:nvPr/>
        </p:nvSpPr>
        <p:spPr>
          <a:xfrm>
            <a:off x="809625" y="1586865"/>
            <a:ext cx="4334510" cy="4036695"/>
          </a:xfrm>
          <a:prstGeom prst="rect">
            <a:avLst/>
          </a:prstGeom>
          <a:noFill/>
        </p:spPr>
        <p:txBody>
          <a:bodyPr wrap="square" rtlCol="0">
            <a:noAutofit/>
          </a:bodyPr>
          <a:p>
            <a:pPr marL="285750" indent="-285750">
              <a:buFont typeface="Arial" panose="020B0604020202020204" pitchFamily="34" charset="0"/>
              <a:buChar char="•"/>
            </a:pPr>
            <a:r>
              <a:rPr lang="en-US" b="1">
                <a:solidFill>
                  <a:srgbClr val="F7860C"/>
                </a:solidFill>
                <a:latin typeface="Times New Roman" panose="02020603050405020304" charset="0"/>
                <a:cs typeface="Times New Roman" panose="02020603050405020304" charset="0"/>
              </a:rPr>
              <a:t>Process :-</a:t>
            </a:r>
            <a:endParaRPr lang="en-US" b="1">
              <a:solidFill>
                <a:srgbClr val="F7860C"/>
              </a:solidFill>
              <a:latin typeface="Times New Roman" panose="02020603050405020304" charset="0"/>
              <a:cs typeface="Times New Roman" panose="02020603050405020304" charset="0"/>
            </a:endParaRPr>
          </a:p>
          <a:p>
            <a:pPr indent="0">
              <a:buFont typeface="Arial" panose="020B0604020202020204" pitchFamily="34" charset="0"/>
              <a:buNone/>
            </a:pPr>
            <a:endParaRPr lang="en-US" sz="8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atin typeface="Times New Roman" panose="02020603050405020304" charset="0"/>
                <a:cs typeface="Times New Roman" panose="02020603050405020304" charset="0"/>
              </a:rPr>
              <a:t>First we use the Pivot table by placing Make column in row and MSRP in Values.</a:t>
            </a:r>
            <a:endParaRPr lang="en-US">
              <a:latin typeface="Times New Roman" panose="02020603050405020304" charset="0"/>
              <a:cs typeface="Times New Roman" panose="02020603050405020304" charset="0"/>
            </a:endParaRPr>
          </a:p>
          <a:p>
            <a:pPr indent="0">
              <a:buFont typeface="Arial" panose="020B0604020202020204" pitchFamily="34" charset="0"/>
              <a:buNone/>
            </a:pPr>
            <a:endParaRPr lang="en-US" sz="8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atin typeface="Times New Roman" panose="02020603050405020304" charset="0"/>
                <a:cs typeface="Times New Roman" panose="02020603050405020304" charset="0"/>
              </a:rPr>
              <a:t> We use Average function for MSRP from the Value field setting.</a:t>
            </a:r>
            <a:endParaRPr lang="en-US">
              <a:latin typeface="Times New Roman" panose="02020603050405020304" charset="0"/>
              <a:cs typeface="Times New Roman" panose="02020603050405020304" charset="0"/>
            </a:endParaRPr>
          </a:p>
          <a:p>
            <a:pPr indent="0">
              <a:buFont typeface="Arial" panose="020B0604020202020204" pitchFamily="34" charset="0"/>
              <a:buNone/>
            </a:pPr>
            <a:endParaRPr lang="en-US" sz="8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atin typeface="Times New Roman" panose="02020603050405020304" charset="0"/>
                <a:cs typeface="Times New Roman" panose="02020603050405020304" charset="0"/>
              </a:rPr>
              <a:t>Lastly we use the Bar chart for representing the Manufacturer and Average Price.</a:t>
            </a:r>
            <a:endParaRPr lang="en-US">
              <a:latin typeface="Times New Roman" panose="02020603050405020304" charset="0"/>
              <a:cs typeface="Times New Roman" panose="02020603050405020304" charset="0"/>
            </a:endParaRPr>
          </a:p>
        </p:txBody>
      </p:sp>
      <p:pic>
        <p:nvPicPr>
          <p:cNvPr id="7" name="Content Placeholder 6" descr="Task-4A"/>
          <p:cNvPicPr>
            <a:picLocks noChangeAspect="1"/>
          </p:cNvPicPr>
          <p:nvPr>
            <p:ph sz="half" idx="1"/>
          </p:nvPr>
        </p:nvPicPr>
        <p:blipFill>
          <a:blip r:embed="rId1"/>
          <a:srcRect l="2316" t="32373" r="79193" b="11654"/>
          <a:stretch>
            <a:fillRect/>
          </a:stretch>
        </p:blipFill>
        <p:spPr>
          <a:xfrm>
            <a:off x="5546090" y="1487170"/>
            <a:ext cx="3194685" cy="4136390"/>
          </a:xfrm>
          <a:prstGeom prst="rect">
            <a:avLst/>
          </a:prstGeom>
        </p:spPr>
      </p:pic>
      <p:pic>
        <p:nvPicPr>
          <p:cNvPr id="8" name="Content Placeholder 7" descr="Task-4B"/>
          <p:cNvPicPr>
            <a:picLocks noChangeAspect="1"/>
          </p:cNvPicPr>
          <p:nvPr>
            <p:ph sz="half" idx="2"/>
          </p:nvPr>
        </p:nvPicPr>
        <p:blipFill>
          <a:blip r:embed="rId2"/>
          <a:srcRect l="2098" t="27554" r="79213" b="11517"/>
          <a:stretch>
            <a:fillRect/>
          </a:stretch>
        </p:blipFill>
        <p:spPr>
          <a:xfrm>
            <a:off x="8740775" y="1487170"/>
            <a:ext cx="2873375" cy="42894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descr="Task-4"/>
          <p:cNvPicPr>
            <a:picLocks noChangeAspect="1"/>
          </p:cNvPicPr>
          <p:nvPr>
            <p:ph idx="1"/>
          </p:nvPr>
        </p:nvPicPr>
        <p:blipFill>
          <a:blip r:embed="rId1"/>
          <a:srcRect l="10349" t="31078" r="34500" b="12859"/>
          <a:stretch>
            <a:fillRect/>
          </a:stretch>
        </p:blipFill>
        <p:spPr>
          <a:xfrm>
            <a:off x="762000" y="951865"/>
            <a:ext cx="10858500" cy="5062220"/>
          </a:xfrm>
          <a:prstGeom prst="rect">
            <a:avLst/>
          </a:prstGeom>
        </p:spPr>
      </p:pic>
      <p:sp>
        <p:nvSpPr>
          <p:cNvPr id="7" name="Text Box 6"/>
          <p:cNvSpPr txBox="1"/>
          <p:nvPr/>
        </p:nvSpPr>
        <p:spPr>
          <a:xfrm>
            <a:off x="746125" y="363855"/>
            <a:ext cx="10398125" cy="401320"/>
          </a:xfrm>
          <a:prstGeom prst="rect">
            <a:avLst/>
          </a:prstGeom>
          <a:noFill/>
        </p:spPr>
        <p:txBody>
          <a:bodyPr wrap="square" rtlCol="0">
            <a:noAutofit/>
          </a:bodyPr>
          <a:p>
            <a:pPr marL="285750" indent="-285750">
              <a:buFont typeface="Arial" panose="020B0604020202020204" pitchFamily="34" charset="0"/>
              <a:buChar char="•"/>
            </a:pPr>
            <a:r>
              <a:rPr lang="en-US" b="1">
                <a:highlight>
                  <a:srgbClr val="FFFF00"/>
                </a:highlight>
                <a:latin typeface="Times New Roman" panose="02020603050405020304" charset="0"/>
                <a:cs typeface="Times New Roman" panose="02020603050405020304" charset="0"/>
              </a:rPr>
              <a:t>Result:- </a:t>
            </a:r>
            <a:r>
              <a:rPr lang="en-US">
                <a:highlight>
                  <a:srgbClr val="FFFF00"/>
                </a:highlight>
                <a:latin typeface="Times New Roman" panose="02020603050405020304" charset="0"/>
                <a:cs typeface="Times New Roman" panose="02020603050405020304" charset="0"/>
              </a:rPr>
              <a:t>The Audi car manufacturers have the high Average Car Price.</a:t>
            </a:r>
            <a:endParaRPr lang="en-US">
              <a:highlight>
                <a:srgbClr val="FFFF00"/>
              </a:highlight>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578610"/>
          </a:xfrm>
        </p:spPr>
        <p:txBody>
          <a:bodyPr/>
          <a:p>
            <a:r>
              <a:rPr lang="en-US" altLang="en-US" sz="1800" b="1">
                <a:solidFill>
                  <a:srgbClr val="F7860C"/>
                </a:solidFill>
                <a:latin typeface="Times New Roman" panose="02020603050405020304" charset="0"/>
                <a:cs typeface="Times New Roman" panose="02020603050405020304" charset="0"/>
                <a:sym typeface="+mn-ea"/>
              </a:rPr>
              <a:t>Task 5:-</a:t>
            </a:r>
            <a:r>
              <a:rPr lang="en-US" altLang="en-US" sz="1800">
                <a:latin typeface="Times New Roman" panose="02020603050405020304" charset="0"/>
                <a:cs typeface="Times New Roman" panose="02020603050405020304" charset="0"/>
                <a:sym typeface="+mn-ea"/>
              </a:rPr>
              <a:t> What is the relationship between fuel efficiency and the number of cylinders in a car's engine?</a:t>
            </a:r>
            <a:br>
              <a:rPr lang="en-US" altLang="en-US" sz="1800">
                <a:latin typeface="Times New Roman" panose="02020603050405020304" charset="0"/>
                <a:cs typeface="Times New Roman" panose="02020603050405020304" charset="0"/>
                <a:sym typeface="+mn-ea"/>
              </a:rPr>
            </a:br>
            <a:r>
              <a:rPr lang="en-US" altLang="en-US" sz="1800" b="1">
                <a:latin typeface="Times New Roman" panose="02020603050405020304" charset="0"/>
                <a:cs typeface="Times New Roman" panose="02020603050405020304" charset="0"/>
                <a:sym typeface="+mn-ea"/>
              </a:rPr>
              <a:t>Task 5.A:-</a:t>
            </a:r>
            <a:r>
              <a:rPr lang="en-US" altLang="en-US" sz="1800">
                <a:latin typeface="Times New Roman" panose="02020603050405020304" charset="0"/>
                <a:cs typeface="Times New Roman" panose="02020603050405020304" charset="0"/>
                <a:sym typeface="+mn-ea"/>
              </a:rPr>
              <a:t> Create a scatter plot with the number of cylinders on the x-axis and highway MPG on the y-axis. Then create a trendline on the scatter plot to visually estimate the slope of the relationship and assess its significance.</a:t>
            </a:r>
            <a:br>
              <a:rPr lang="en-US" altLang="en-US" sz="1800">
                <a:latin typeface="Times New Roman" panose="02020603050405020304" charset="0"/>
                <a:cs typeface="Times New Roman" panose="02020603050405020304" charset="0"/>
              </a:rPr>
            </a:br>
            <a:r>
              <a:rPr lang="en-US" altLang="en-US" sz="1800" b="1">
                <a:latin typeface="Times New Roman" panose="02020603050405020304" charset="0"/>
                <a:cs typeface="Times New Roman" panose="02020603050405020304" charset="0"/>
                <a:sym typeface="+mn-ea"/>
              </a:rPr>
              <a:t>Task 5.B:-</a:t>
            </a:r>
            <a:r>
              <a:rPr lang="en-US" altLang="en-US" sz="1800">
                <a:latin typeface="Times New Roman" panose="02020603050405020304" charset="0"/>
                <a:cs typeface="Times New Roman" panose="02020603050405020304" charset="0"/>
                <a:sym typeface="+mn-ea"/>
              </a:rPr>
              <a:t> Calculate the correlation coefficient between the number of cylinders and highway MPG to quantify the strength and direction of the relationship.</a:t>
            </a:r>
            <a:endParaRPr lang="en-US" sz="1800">
              <a:latin typeface="Times New Roman" panose="02020603050405020304" charset="0"/>
              <a:cs typeface="Times New Roman" panose="02020603050405020304" charset="0"/>
            </a:endParaRPr>
          </a:p>
        </p:txBody>
      </p:sp>
      <p:sp>
        <p:nvSpPr>
          <p:cNvPr id="5" name="Content Placeholder 4"/>
          <p:cNvSpPr>
            <a:spLocks noGrp="1"/>
          </p:cNvSpPr>
          <p:nvPr>
            <p:ph sz="half" idx="1"/>
          </p:nvPr>
        </p:nvSpPr>
        <p:spPr>
          <a:xfrm>
            <a:off x="609600" y="1986280"/>
            <a:ext cx="10576560" cy="3093720"/>
          </a:xfrm>
        </p:spPr>
        <p:txBody>
          <a:bodyPr/>
          <a:p>
            <a:r>
              <a:rPr lang="en-US" sz="1800" b="1">
                <a:solidFill>
                  <a:srgbClr val="F7860C"/>
                </a:solidFill>
                <a:latin typeface="Times New Roman" panose="02020603050405020304" charset="0"/>
                <a:cs typeface="Times New Roman" panose="02020603050405020304" charset="0"/>
              </a:rPr>
              <a:t>Process:-</a:t>
            </a:r>
            <a:endParaRPr lang="en-US" sz="1800" b="1">
              <a:solidFill>
                <a:srgbClr val="F7860C"/>
              </a:solidFill>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First we take City MPG and Engine Cylinder column in another sheet.</a:t>
            </a:r>
            <a:endParaRPr lang="en-US" sz="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After that, we use the Correl Function and find the corelatio between City MPG and Engine Cylinder column.</a:t>
            </a:r>
            <a:endParaRPr lang="en-US" sz="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Then, we use the Scatter Plot chart for the visulization.</a:t>
            </a:r>
            <a:endParaRPr lang="en-US" sz="800">
              <a:latin typeface="Times New Roman" panose="02020603050405020304" charset="0"/>
              <a:cs typeface="Times New Roman" panose="02020603050405020304" charset="0"/>
            </a:endParaRPr>
          </a:p>
          <a:p>
            <a:r>
              <a:rPr lang="en-US" sz="1800">
                <a:latin typeface="Times New Roman" panose="02020603050405020304" charset="0"/>
                <a:cs typeface="Times New Roman" panose="02020603050405020304" charset="0"/>
              </a:rPr>
              <a:t>we also add the trendline. </a:t>
            </a:r>
            <a:endParaRPr lang="en-US" sz="1800">
              <a:latin typeface="Times New Roman" panose="02020603050405020304" charset="0"/>
              <a:cs typeface="Times New Roman" panose="02020603050405020304" charset="0"/>
            </a:endParaRPr>
          </a:p>
          <a:p>
            <a:pPr marL="0" indent="0">
              <a:buNone/>
            </a:pPr>
            <a:endParaRPr lang="en-US" sz="1800">
              <a:latin typeface="Times New Roman" panose="02020603050405020304" charset="0"/>
              <a:cs typeface="Times New Roman" panose="02020603050405020304" charset="0"/>
            </a:endParaRPr>
          </a:p>
          <a:p>
            <a:r>
              <a:rPr lang="en-US" sz="1800" b="1">
                <a:highlight>
                  <a:srgbClr val="FFFF00"/>
                </a:highlight>
                <a:latin typeface="Times New Roman" panose="02020603050405020304" charset="0"/>
                <a:cs typeface="Times New Roman" panose="02020603050405020304" charset="0"/>
              </a:rPr>
              <a:t>Result:- </a:t>
            </a:r>
            <a:r>
              <a:rPr lang="en-US" sz="1800">
                <a:highlight>
                  <a:srgbClr val="FFFF00"/>
                </a:highlight>
                <a:latin typeface="Times New Roman" panose="02020603050405020304" charset="0"/>
                <a:cs typeface="Times New Roman" panose="02020603050405020304" charset="0"/>
              </a:rPr>
              <a:t>If the number of Engine Cylider increased then the Fuel Efficiency will decrease.</a:t>
            </a:r>
            <a:endParaRPr lang="en-US" sz="1800">
              <a:highlight>
                <a:srgbClr val="FFFF00"/>
              </a:highlight>
              <a:latin typeface="Times New Roman" panose="02020603050405020304" charset="0"/>
              <a:cs typeface="Times New Roman" panose="02020603050405020304" charset="0"/>
            </a:endParaRPr>
          </a:p>
          <a:p>
            <a:pPr marL="0" indent="0">
              <a:buNone/>
            </a:pPr>
            <a:endParaRPr lang="en-US" sz="1800">
              <a:highlight>
                <a:srgbClr val="FFFF00"/>
              </a:highlight>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Task-5"/>
          <p:cNvPicPr>
            <a:picLocks noChangeAspect="1"/>
          </p:cNvPicPr>
          <p:nvPr/>
        </p:nvPicPr>
        <p:blipFill>
          <a:blip r:embed="rId1"/>
          <a:srcRect l="22651" t="30082" r="32948" b="14795"/>
          <a:stretch>
            <a:fillRect/>
          </a:stretch>
        </p:blipFill>
        <p:spPr>
          <a:xfrm>
            <a:off x="2230755" y="589915"/>
            <a:ext cx="7730490" cy="5394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725295"/>
          </a:xfrm>
        </p:spPr>
        <p:txBody>
          <a:bodyPr/>
          <a:p>
            <a:pPr marL="285750" indent="-285750">
              <a:buFont typeface="Wingdings" panose="05000000000000000000" charset="0"/>
              <a:buChar char="v"/>
            </a:pPr>
            <a:r>
              <a:rPr lang="en-US" altLang="en-US" sz="1800" b="1">
                <a:solidFill>
                  <a:srgbClr val="F7860C"/>
                </a:solidFill>
                <a:latin typeface="Times New Roman" panose="02020603050405020304" charset="0"/>
                <a:cs typeface="Times New Roman" panose="02020603050405020304" charset="0"/>
                <a:sym typeface="+mn-ea"/>
              </a:rPr>
              <a:t>Building the Dashboard:-</a:t>
            </a:r>
            <a:br>
              <a:rPr lang="en-US" altLang="en-US" sz="1800" b="1">
                <a:solidFill>
                  <a:srgbClr val="F7860C"/>
                </a:solidFill>
                <a:latin typeface="Times New Roman" panose="02020603050405020304" charset="0"/>
                <a:cs typeface="Times New Roman" panose="02020603050405020304" charset="0"/>
                <a:sym typeface="+mn-ea"/>
              </a:rPr>
            </a:br>
            <a:r>
              <a:rPr lang="en-US" altLang="en-US" sz="1800" b="1">
                <a:solidFill>
                  <a:srgbClr val="F7860C"/>
                </a:solidFill>
                <a:latin typeface="Times New Roman" panose="02020603050405020304" charset="0"/>
                <a:cs typeface="Times New Roman" panose="02020603050405020304" charset="0"/>
                <a:sym typeface="+mn-ea"/>
              </a:rPr>
              <a:t>Task 1:-</a:t>
            </a:r>
            <a:r>
              <a:rPr lang="en-US" altLang="en-US" sz="1800">
                <a:solidFill>
                  <a:srgbClr val="F7860C"/>
                </a:solidFill>
                <a:latin typeface="Times New Roman" panose="02020603050405020304" charset="0"/>
                <a:cs typeface="Times New Roman" panose="02020603050405020304" charset="0"/>
                <a:sym typeface="+mn-ea"/>
              </a:rPr>
              <a:t> </a:t>
            </a:r>
            <a:r>
              <a:rPr lang="en-US" altLang="en-US" sz="1800">
                <a:latin typeface="Times New Roman" panose="02020603050405020304" charset="0"/>
                <a:cs typeface="Times New Roman" panose="02020603050405020304" charset="0"/>
                <a:sym typeface="+mn-ea"/>
              </a:rPr>
              <a:t>How does the distribution of car prices vary by brand and body style?</a:t>
            </a:r>
            <a:br>
              <a:rPr lang="en-US" altLang="en-US" sz="1800">
                <a:latin typeface="Times New Roman" panose="02020603050405020304" charset="0"/>
                <a:cs typeface="Times New Roman" panose="02020603050405020304" charset="0"/>
              </a:rPr>
            </a:br>
            <a:r>
              <a:rPr lang="en-US" altLang="en-US" sz="1800">
                <a:latin typeface="Times New Roman" panose="02020603050405020304" charset="0"/>
                <a:cs typeface="Times New Roman" panose="02020603050405020304" charset="0"/>
                <a:sym typeface="+mn-ea"/>
              </a:rPr>
              <a:t>      Hints:- Stacked column chart to show the distribution of car prices by brand and body style. Use filters and slicers to make the chart interactive. Calculate the total MSRP for each brand and body style using SUMIF or Pivot Tables.</a:t>
            </a:r>
            <a:endParaRPr lang="en-US" sz="1800">
              <a:latin typeface="Times New Roman" panose="02020603050405020304" charset="0"/>
              <a:cs typeface="Times New Roman" panose="02020603050405020304" charset="0"/>
            </a:endParaRPr>
          </a:p>
        </p:txBody>
      </p:sp>
      <p:pic>
        <p:nvPicPr>
          <p:cNvPr id="6" name="Content Placeholder 5" descr="Dashbord Task-1"/>
          <p:cNvPicPr>
            <a:picLocks noChangeAspect="1"/>
          </p:cNvPicPr>
          <p:nvPr>
            <p:ph idx="1"/>
          </p:nvPr>
        </p:nvPicPr>
        <p:blipFill>
          <a:blip r:embed="rId1"/>
          <a:srcRect l="11167" t="28909" r="5833" b="13282"/>
          <a:stretch>
            <a:fillRect/>
          </a:stretch>
        </p:blipFill>
        <p:spPr>
          <a:xfrm>
            <a:off x="609600" y="1802765"/>
            <a:ext cx="10973435" cy="4302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137285"/>
          </a:xfrm>
        </p:spPr>
        <p:txBody>
          <a:bodyPr/>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2:-</a:t>
            </a:r>
            <a:r>
              <a:rPr lang="en-US" altLang="en-US" sz="1800">
                <a:solidFill>
                  <a:srgbClr val="F7860C"/>
                </a:solidFill>
                <a:latin typeface="Times New Roman" panose="02020603050405020304" charset="0"/>
                <a:cs typeface="Times New Roman" panose="02020603050405020304" charset="0"/>
                <a:sym typeface="+mn-ea"/>
              </a:rPr>
              <a:t> </a:t>
            </a:r>
            <a:r>
              <a:rPr lang="en-US" altLang="en-US" sz="1800">
                <a:latin typeface="Times New Roman" panose="02020603050405020304" charset="0"/>
                <a:cs typeface="Times New Roman" panose="02020603050405020304" charset="0"/>
                <a:sym typeface="+mn-ea"/>
              </a:rPr>
              <a:t>Which car brands have the highest and lowest average MSRPs, and how does this vary by body style?</a:t>
            </a:r>
            <a:br>
              <a:rPr lang="en-US" altLang="en-US" sz="1800">
                <a:latin typeface="Times New Roman" panose="02020603050405020304" charset="0"/>
                <a:cs typeface="Times New Roman" panose="02020603050405020304" charset="0"/>
              </a:rPr>
            </a:br>
            <a:r>
              <a:rPr lang="en-US" altLang="en-US" sz="1800">
                <a:latin typeface="Times New Roman" panose="02020603050405020304" charset="0"/>
                <a:cs typeface="Times New Roman" panose="02020603050405020304" charset="0"/>
                <a:sym typeface="+mn-ea"/>
              </a:rPr>
              <a:t>      Hints:- Clustered column chart to compare the average MSRPs across different car brands and body styles. Calculate the average MSRP for each brand and body style using AVERAGEIF or Pivot Tables.</a:t>
            </a:r>
            <a:endParaRPr lang="en-US" sz="1800">
              <a:latin typeface="Times New Roman" panose="02020603050405020304" charset="0"/>
              <a:cs typeface="Times New Roman" panose="02020603050405020304" charset="0"/>
            </a:endParaRPr>
          </a:p>
        </p:txBody>
      </p:sp>
      <p:pic>
        <p:nvPicPr>
          <p:cNvPr id="6" name="Content Placeholder 5" descr="Dashbord Task-2"/>
          <p:cNvPicPr>
            <a:picLocks noChangeAspect="1"/>
          </p:cNvPicPr>
          <p:nvPr>
            <p:ph idx="1"/>
          </p:nvPr>
        </p:nvPicPr>
        <p:blipFill>
          <a:blip r:embed="rId1"/>
          <a:srcRect l="19008" t="31731" r="19181" b="13462"/>
          <a:stretch>
            <a:fillRect/>
          </a:stretch>
        </p:blipFill>
        <p:spPr>
          <a:xfrm>
            <a:off x="609600" y="1327150"/>
            <a:ext cx="10972800" cy="4546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725930"/>
          </a:xfrm>
        </p:spPr>
        <p:txBody>
          <a:bodyPr/>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3:-</a:t>
            </a:r>
            <a:r>
              <a:rPr lang="en-US" altLang="en-US" sz="1800">
                <a:latin typeface="Times New Roman" panose="02020603050405020304" charset="0"/>
                <a:cs typeface="Times New Roman" panose="02020603050405020304" charset="0"/>
                <a:sym typeface="+mn-ea"/>
              </a:rPr>
              <a:t> How do the different feature such as transmission type affect the MSRP, and how does this vary by body style?</a:t>
            </a:r>
            <a:br>
              <a:rPr lang="en-US" altLang="en-US" sz="1800">
                <a:latin typeface="Times New Roman" panose="02020603050405020304" charset="0"/>
                <a:cs typeface="Times New Roman" panose="02020603050405020304" charset="0"/>
              </a:rPr>
            </a:br>
            <a:r>
              <a:rPr lang="en-US" altLang="en-US" sz="1800">
                <a:latin typeface="Times New Roman" panose="02020603050405020304" charset="0"/>
                <a:cs typeface="Times New Roman" panose="02020603050405020304" charset="0"/>
                <a:sym typeface="+mn-ea"/>
              </a:rPr>
              <a:t>      Hints:- Scatter plot chart to visualize the relationship between MSRP and transmission type, with different symbols for each body style. Calculate the average MSRP for each combination of transmission type and body style using AVERAGEIFS or Pivot Tables.</a:t>
            </a:r>
            <a:endParaRPr lang="en-US" sz="1800">
              <a:latin typeface="Times New Roman" panose="02020603050405020304" charset="0"/>
              <a:cs typeface="Times New Roman" panose="02020603050405020304" charset="0"/>
            </a:endParaRPr>
          </a:p>
        </p:txBody>
      </p:sp>
      <p:pic>
        <p:nvPicPr>
          <p:cNvPr id="7" name="Content Placeholder 6" descr="Dashbord Task-3B"/>
          <p:cNvPicPr>
            <a:picLocks noChangeAspect="1"/>
          </p:cNvPicPr>
          <p:nvPr>
            <p:ph idx="1"/>
          </p:nvPr>
        </p:nvPicPr>
        <p:blipFill>
          <a:blip r:embed="rId1"/>
          <a:srcRect l="9810" t="38321" r="42935" b="16167"/>
          <a:stretch>
            <a:fillRect/>
          </a:stretch>
        </p:blipFill>
        <p:spPr>
          <a:xfrm>
            <a:off x="2571115" y="1915795"/>
            <a:ext cx="6684010" cy="41408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1169670"/>
          </a:xfrm>
        </p:spPr>
        <p:txBody>
          <a:bodyPr/>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4:-</a:t>
            </a:r>
            <a:r>
              <a:rPr lang="en-US" altLang="en-US" sz="1800">
                <a:latin typeface="Times New Roman" panose="02020603050405020304" charset="0"/>
                <a:cs typeface="Times New Roman" panose="02020603050405020304" charset="0"/>
                <a:sym typeface="+mn-ea"/>
              </a:rPr>
              <a:t> How does the fuel efficiency of cars vary across different body styles and model years? </a:t>
            </a:r>
            <a:br>
              <a:rPr lang="en-US" altLang="en-US" sz="1800">
                <a:latin typeface="Times New Roman" panose="02020603050405020304" charset="0"/>
                <a:cs typeface="Times New Roman" panose="02020603050405020304" charset="0"/>
              </a:rPr>
            </a:br>
            <a:r>
              <a:rPr lang="en-US" altLang="en-US" sz="1800">
                <a:latin typeface="Times New Roman" panose="02020603050405020304" charset="0"/>
                <a:cs typeface="Times New Roman" panose="02020603050405020304" charset="0"/>
                <a:sym typeface="+mn-ea"/>
              </a:rPr>
              <a:t>      Hints:- Line chart to show the trend of fuel efficiency (MPG) over time for each body style. Calculate the average MPG for each combination of body style and model year using AVERAGEIFS or Pivot Tables.</a:t>
            </a:r>
            <a:endParaRPr lang="en-US" sz="1800">
              <a:latin typeface="Times New Roman" panose="02020603050405020304" charset="0"/>
              <a:cs typeface="Times New Roman" panose="02020603050405020304" charset="0"/>
            </a:endParaRPr>
          </a:p>
        </p:txBody>
      </p:sp>
      <p:pic>
        <p:nvPicPr>
          <p:cNvPr id="6" name="Content Placeholder 5" descr="Dashbord Task-4"/>
          <p:cNvPicPr>
            <a:picLocks noChangeAspect="1"/>
          </p:cNvPicPr>
          <p:nvPr>
            <p:ph idx="1"/>
          </p:nvPr>
        </p:nvPicPr>
        <p:blipFill>
          <a:blip r:embed="rId1"/>
          <a:srcRect l="4140" t="31456" r="18100" b="16392"/>
          <a:stretch>
            <a:fillRect/>
          </a:stretch>
        </p:blipFill>
        <p:spPr>
          <a:xfrm>
            <a:off x="571500" y="1618615"/>
            <a:ext cx="11010900" cy="44456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190500"/>
            <a:ext cx="10972800" cy="831215"/>
          </a:xfrm>
        </p:spPr>
        <p:txBody>
          <a:bodyPr/>
          <a:p>
            <a:pPr marL="285750" indent="-285750">
              <a:buFont typeface="Wingdings" panose="05000000000000000000" charset="0"/>
              <a:buChar char="Ø"/>
            </a:pPr>
            <a:r>
              <a:rPr lang="en-US" altLang="en-US" sz="1800" b="1">
                <a:solidFill>
                  <a:srgbClr val="F7860C"/>
                </a:solidFill>
                <a:latin typeface="Times New Roman" panose="02020603050405020304" charset="0"/>
                <a:cs typeface="Times New Roman" panose="02020603050405020304" charset="0"/>
                <a:sym typeface="+mn-ea"/>
              </a:rPr>
              <a:t>Task 5:-</a:t>
            </a:r>
            <a:r>
              <a:rPr lang="en-US" altLang="en-US" sz="1800">
                <a:latin typeface="Times New Roman" panose="02020603050405020304" charset="0"/>
                <a:cs typeface="Times New Roman" panose="02020603050405020304" charset="0"/>
                <a:sym typeface="+mn-ea"/>
              </a:rPr>
              <a:t> How does the car's horsepower, MPG, and price vary across different Brands?</a:t>
            </a:r>
            <a:br>
              <a:rPr lang="en-US" altLang="en-US" sz="1800">
                <a:latin typeface="Times New Roman" panose="02020603050405020304" charset="0"/>
                <a:cs typeface="Times New Roman" panose="02020603050405020304" charset="0"/>
              </a:rPr>
            </a:br>
            <a:r>
              <a:rPr lang="en-US" altLang="en-US" sz="1800">
                <a:latin typeface="Times New Roman" panose="02020603050405020304" charset="0"/>
                <a:cs typeface="Times New Roman" panose="02020603050405020304" charset="0"/>
                <a:sym typeface="+mn-ea"/>
              </a:rPr>
              <a:t>      Hints:- Bubble chart to visualize the relationship between horsepower, MPG, and price across different car brands. Assign different colors to each brand and label the bubbles with the car model name. Calculate the average horsepower, MPG, and MSRP for each car brand using AVERAGEIFS or Pivot Tables.</a:t>
            </a:r>
            <a:endParaRPr lang="en-US" sz="1800">
              <a:latin typeface="Times New Roman" panose="02020603050405020304" charset="0"/>
              <a:cs typeface="Times New Roman" panose="02020603050405020304" charset="0"/>
            </a:endParaRPr>
          </a:p>
        </p:txBody>
      </p:sp>
      <p:pic>
        <p:nvPicPr>
          <p:cNvPr id="2" name="Content Placeholder 1" descr="Dashbord Task-5A"/>
          <p:cNvPicPr>
            <a:picLocks noChangeAspect="1"/>
          </p:cNvPicPr>
          <p:nvPr>
            <p:ph sz="half" idx="1"/>
          </p:nvPr>
        </p:nvPicPr>
        <p:blipFill>
          <a:blip r:embed="rId1"/>
          <a:srcRect l="26036" t="32417" r="30895" b="11439"/>
          <a:stretch>
            <a:fillRect/>
          </a:stretch>
        </p:blipFill>
        <p:spPr>
          <a:xfrm>
            <a:off x="609600" y="1184275"/>
            <a:ext cx="5384800" cy="4804410"/>
          </a:xfrm>
          <a:prstGeom prst="rect">
            <a:avLst/>
          </a:prstGeom>
        </p:spPr>
      </p:pic>
      <p:pic>
        <p:nvPicPr>
          <p:cNvPr id="3" name="Content Placeholder 2" descr="Dashbord Task-5B"/>
          <p:cNvPicPr>
            <a:picLocks noChangeAspect="1"/>
          </p:cNvPicPr>
          <p:nvPr>
            <p:ph sz="half" idx="2"/>
          </p:nvPr>
        </p:nvPicPr>
        <p:blipFill>
          <a:blip r:embed="rId2"/>
          <a:srcRect l="25930" t="32212" r="30837" b="13866"/>
          <a:stretch>
            <a:fillRect/>
          </a:stretch>
        </p:blipFill>
        <p:spPr>
          <a:xfrm>
            <a:off x="6644640" y="1807210"/>
            <a:ext cx="4937760" cy="41814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Dashbord Task-5C"/>
          <p:cNvPicPr>
            <a:picLocks noChangeAspect="1"/>
          </p:cNvPicPr>
          <p:nvPr/>
        </p:nvPicPr>
        <p:blipFill>
          <a:blip r:embed="rId1"/>
          <a:srcRect l="34115" t="29850" r="11458" b="15258"/>
          <a:stretch>
            <a:fillRect/>
          </a:stretch>
        </p:blipFill>
        <p:spPr>
          <a:xfrm>
            <a:off x="1699895" y="715645"/>
            <a:ext cx="9015730" cy="53009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831850" y="1710055"/>
            <a:ext cx="10515600" cy="1892935"/>
          </a:xfrm>
        </p:spPr>
        <p:txBody>
          <a:bodyPr/>
          <a:p>
            <a:pPr algn="ctr"/>
            <a:r>
              <a:rPr lang="en-US" b="1">
                <a:ln w="3175">
                  <a:solidFill>
                    <a:schemeClr val="tx1"/>
                  </a:solidFill>
                </a:ln>
                <a:solidFill>
                  <a:srgbClr val="F7860C"/>
                </a:solidFill>
                <a:latin typeface="Times New Roman" panose="02020603050405020304" charset="0"/>
                <a:cs typeface="Times New Roman" panose="02020603050405020304" charset="0"/>
              </a:rPr>
              <a:t>END</a:t>
            </a:r>
            <a:endParaRPr lang="en-US" b="1">
              <a:ln w="3175">
                <a:solidFill>
                  <a:schemeClr val="tx1"/>
                </a:solidFill>
              </a:ln>
              <a:solidFill>
                <a:srgbClr val="F7860C"/>
              </a:solidFill>
              <a:latin typeface="Times New Roman" panose="02020603050405020304" charset="0"/>
              <a:cs typeface="Times New Roman" panose="02020603050405020304" charset="0"/>
            </a:endParaRPr>
          </a:p>
        </p:txBody>
      </p:sp>
      <p:sp>
        <p:nvSpPr>
          <p:cNvPr id="6" name="Text Box 5"/>
          <p:cNvSpPr txBox="1"/>
          <p:nvPr/>
        </p:nvSpPr>
        <p:spPr>
          <a:xfrm>
            <a:off x="657225" y="246380"/>
            <a:ext cx="10877550" cy="1463675"/>
          </a:xfrm>
          <a:prstGeom prst="rect">
            <a:avLst/>
          </a:prstGeom>
          <a:noFill/>
          <a:ln>
            <a:solidFill>
              <a:schemeClr val="tx1"/>
            </a:solidFill>
          </a:ln>
        </p:spPr>
        <p:txBody>
          <a:bodyPr wrap="square" rtlCol="0">
            <a:noAutofit/>
          </a:bodyPr>
          <a:p>
            <a:pPr marL="285750" indent="-285750">
              <a:buFont typeface="Wingdings" panose="05000000000000000000" charset="0"/>
              <a:buChar char="v"/>
            </a:pPr>
            <a:r>
              <a:rPr lang="en-US" altLang="en-US" b="1">
                <a:solidFill>
                  <a:srgbClr val="F7860C"/>
                </a:solidFill>
                <a:latin typeface="Times New Roman" panose="02020603050405020304" charset="0"/>
                <a:cs typeface="Times New Roman" panose="02020603050405020304" charset="0"/>
              </a:rPr>
              <a:t>MICROSOFT EXCEL FILE:-</a:t>
            </a:r>
            <a:r>
              <a:rPr lang="en-US" altLang="en-US">
                <a:solidFill>
                  <a:srgbClr val="0945A5"/>
                </a:solidFill>
                <a:latin typeface="Times New Roman" panose="02020603050405020304" charset="0"/>
                <a:cs typeface="Times New Roman" panose="02020603050405020304" charset="0"/>
              </a:rPr>
              <a:t>https://docs.google.com/spreadsheets/d/1AXEN7ZavvI2flP0aMnhRSenWHz6BH7jO/edit?usp=drive_link&amp;ouid=103974361659264463652&amp;rtpof=true&amp;sd=true</a:t>
            </a:r>
            <a:endParaRPr lang="en-US" altLang="en-US">
              <a:solidFill>
                <a:srgbClr val="0945A5"/>
              </a:solidFill>
              <a:latin typeface="Times New Roman" panose="02020603050405020304" charset="0"/>
              <a:cs typeface="Times New Roman" panose="02020603050405020304" charset="0"/>
            </a:endParaRPr>
          </a:p>
          <a:p>
            <a:pPr marL="285750" indent="-285750">
              <a:buFont typeface="Wingdings" panose="05000000000000000000" charset="0"/>
              <a:buChar char="v"/>
            </a:pPr>
            <a:r>
              <a:rPr lang="en-US" altLang="en-US" b="1">
                <a:solidFill>
                  <a:srgbClr val="F7860C"/>
                </a:solidFill>
                <a:latin typeface="Times New Roman" panose="02020603050405020304" charset="0"/>
                <a:cs typeface="Times New Roman" panose="02020603050405020304" charset="0"/>
              </a:rPr>
              <a:t>LOOM VIDEO LINK:-</a:t>
            </a:r>
            <a:r>
              <a:rPr lang="en-US" altLang="en-US">
                <a:solidFill>
                  <a:srgbClr val="0945A5"/>
                </a:solidFill>
                <a:latin typeface="Times New Roman" panose="02020603050405020304" charset="0"/>
                <a:cs typeface="Times New Roman" panose="02020603050405020304" charset="0"/>
              </a:rPr>
              <a:t>https://www.loom.com/share/6f460cabab11478cbf42a6340b2e8500?sid=2441aa93-a136-4031-84d1-41c52808086d</a:t>
            </a:r>
            <a:endParaRPr lang="en-US" altLang="en-US">
              <a:solidFill>
                <a:srgbClr val="0945A5"/>
              </a:solidFill>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9027</Words>
  <Application>WPS Presentation</Application>
  <PresentationFormat>Widescreen</PresentationFormat>
  <Paragraphs>104</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Times New Roman</vt:lpstr>
      <vt:lpstr>Wingdings</vt:lpstr>
      <vt:lpstr>Microsoft YaHei</vt:lpstr>
      <vt:lpstr>Arial Unicode MS</vt:lpstr>
      <vt:lpstr>Calibri</vt:lpstr>
      <vt:lpstr>Orange Waves</vt:lpstr>
      <vt:lpstr>Name:- Yash Rajendra Gaikwad Data Analytics Trainee Project-7. Analyzing the Impact of Car Features on Price and Profitability. Software Used:- Microsoft Excel.</vt:lpstr>
      <vt:lpstr>PowerPoint 演示文稿</vt:lpstr>
      <vt:lpstr>PowerPoint 演示文稿</vt:lpstr>
      <vt:lpstr>Task 1:-How does the popularity of a car model vary across different market categories? Task 1.A:- Create a pivot table that shows the number of car models in each market category and their corresponding popularity scores. Task 1.B:- Create a combo chart that visualizes the relationship between market category and popularity.</vt:lpstr>
      <vt:lpstr>PowerPoint 演示文稿</vt:lpstr>
      <vt:lpstr>Task 2:- What is the relationship between a car's engine power and its price? Task:-  Create a scatter chart that plots engine power on the x-axis and price on the y-axis. Add a trendline to the chart to visualize the relationship between these variables.</vt:lpstr>
      <vt:lpstr>Task 3:-Which car features are most important in determining a car's price?  Task :- Use regression analysis to identify the variables that have the strongest relationship with a car's price. Then create a bar chart that shows the coefficient values for each variable to visualize their relative importance.</vt:lpstr>
      <vt:lpstr>Result:- The car Engine Cylinders and HP is the most important car feature to determine the car price. </vt:lpstr>
      <vt:lpstr>Task 4:- How does the average price of a car vary across different manufacturers? Task 4.A:- Create a pivot table that shows the average price of cars for each manufacturer.  Task 4.B:- Create a bar chart or a horizontal stacked bar chart that visualizes the relationship between manufacturer and average price.</vt:lpstr>
      <vt:lpstr>PowerPoint 演示文稿</vt:lpstr>
      <vt:lpstr>Task 5:- What is the relationship between fuel efficiency and the number of cylinders in a car's engine? Task 5.A:- Create a scatter plot with the number of cylinders on the x-axis and highway MPG on the y-axis. Then create a trendline on the scatter plot to visually estimate the slope of the relationship and assess its significance. Task 5.B:- Calculate the correlation coefficient between the number of cylinders and highway MPG to quantify the strength and direction of the relationship.</vt:lpstr>
      <vt:lpstr>PowerPoint 演示文稿</vt:lpstr>
      <vt:lpstr>Building the Dashboard:- Task 1:- How does the distribution of car prices vary by brand and body style?       Hints:- Stacked column chart to show the distribution of car prices by brand and body style. Use filters and slicers to make the chart interactive. Calculate the total MSRP for each brand and body style using SUMIF or Pivot Tables.</vt:lpstr>
      <vt:lpstr>Task 2:- Which car brands have the highest and lowest average MSRPs, and how does this vary by body style?       Hints:- Clustered column chart to compare the average MSRPs across different car brands and body styles. Calculate the average MSRP for each brand and body style using AVERAGEIF or Pivot Tables.</vt:lpstr>
      <vt:lpstr>Task 3:- How do the different feature such as transmission type affect the MSRP, and how does this vary by body style?       Hints:- Scatter plot chart to visualize the relationship between MSRP and transmission type, with different symbols for each body style. Calculate the average MSRP for each combination of transmission type and body style using AVERAGEIFS or Pivot Tables.</vt:lpstr>
      <vt:lpstr>Task 4:- How does the fuel efficiency of cars vary across different body styles and model years?        Hints:- Line chart to show the trend of fuel efficiency (MPG) over time for each body style. Calculate the average MPG for each combination of body style and model year using AVERAGEIFS or Pivot Tables.</vt:lpstr>
      <vt:lpstr>Task 5:- How does the car's horsepower, MPG, and price vary across different Brands?       Hints:- Bubble chart to visualize the relationship between horsepower, MPG, and price across different car brands. Assign different colors to each brand and label the bubbles with the car model name. Calculate the average horsepower, MPG, and MSRP for each car brand using AVERAGEIFS or Pivot Tables.</vt:lpstr>
      <vt:lpstr>PowerPoint 演示文稿</vt:lpstr>
      <vt:lpstr>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Yash Rajendra Gaikwad Data Analytics Trainee Project-7. Analyzing the Impact of Car Features on Price and Profitability. Software Used:- Microsoft Excel.</dc:title>
  <dc:creator>Yash Gaikwad</dc:creator>
  <cp:lastModifiedBy>91830</cp:lastModifiedBy>
  <cp:revision>27</cp:revision>
  <dcterms:created xsi:type="dcterms:W3CDTF">2024-12-23T13:01:00Z</dcterms:created>
  <dcterms:modified xsi:type="dcterms:W3CDTF">2024-12-24T09:50:28Z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D6EBFF361D274230932DF7E78925EE3B_12</vt:lpwstr>
  </property>
  <property fmtid="{D5CDD505-2E9C-101B-9397-08002B2CF9AE}" pid="3" name="KSOProductBuildVer">
    <vt:lpwstr>1033-12.2.0.19307</vt:lpwstr>
  </property>
</Properties>
</file>