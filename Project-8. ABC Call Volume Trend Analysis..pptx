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3" r:id="rId6"/>
    <p:sldId id="261" r:id="rId7"/>
    <p:sldId id="264" r:id="rId8"/>
    <p:sldId id="265" r:id="rId9"/>
    <p:sldId id="267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C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231140"/>
            <a:ext cx="10515600" cy="1678940"/>
          </a:xfrm>
        </p:spPr>
        <p:txBody>
          <a:bodyPr/>
          <a:p>
            <a:pPr algn="ctr"/>
            <a: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Name:- </a:t>
            </a:r>
            <a:r>
              <a:rPr lang="en-US" sz="2400" b="1" dirty="0" err="1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Yash</a:t>
            </a:r>
            <a: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400" b="1" dirty="0" err="1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Rajendra</a:t>
            </a:r>
            <a: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400" b="1" dirty="0" err="1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Gaikwad</a:t>
            </a:r>
            <a:b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Analytics Trainee</a:t>
            </a:r>
            <a:b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2400" b="1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Project-8. ABC Call Volume Trend Analysis</a:t>
            </a:r>
            <a: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b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2400" b="1" dirty="0" smtClean="0">
                <a:solidFill>
                  <a:srgbClr val="F7860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Used:- Microsoft Excel.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1850" y="2026285"/>
            <a:ext cx="10515600" cy="4063365"/>
          </a:xfrm>
        </p:spPr>
        <p:txBody>
          <a:bodyPr/>
          <a:p>
            <a:pPr marL="285750" indent="-285750"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Analysis done on following Points:-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1) Average Call Analysis:-</a:t>
            </a: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Determine the average duration of all incoming calls received by agents. this should be calculated for each Time bucket.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Task:-</a:t>
            </a:r>
            <a:r>
              <a:rPr lang="en-US" sz="1800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is the average duration of calls for each time bucket?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endParaRPr lang="en-US" sz="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2) Call Volume Analysis:-</a:t>
            </a: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Visualize the total number of calls received. This should be represented as a graph or chart showing the number of calls against time. time should be represented in bucket(e.g., 1-2,2-3..etc)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    Task:-</a:t>
            </a:r>
            <a:r>
              <a:rPr lang="en-US" sz="1800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Can you create a chart or graph thet showes the number of calls received in each time bucket?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sz="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3) Manpower Planning:-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current rate of abandoned calls is approximately 30%. Propose a plan for man power allocation during each time bucket (from 9am to 9pm) to reduce the abandonrate to 10%. in otherwords, you need to calculate the minimum number of agents require in each time bucket to ensure thet at least 90 out of 100 call are answered.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    Task:-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What is the minimum number of agents require in each time bucket to reduce the abandon rate to 10%? 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5155" y="409575"/>
            <a:ext cx="10835640" cy="378079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4) Night Shift Manpower Planning:-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Customers also call ABC insurance company at night but dont get an answer because there are no agents available. this creates a poor customer experience. Assumethat for every 100 calls that between 9am-9pm. the distribution of these 30 calls is as follows: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Task:-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 a manpower plan for each time bucket throughout the day, keeping the maximun abandon rate at 10%. </a:t>
            </a:r>
            <a:endParaRPr 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    Assumptions:-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An agent works for 6 days a week; On average, each agent takes 4 unplanned leaves per month; An  agent’s total working hour are 9 hours, out of which 1.5 hours are spent on lunch and snacks in the office. On average, an agent spends 60% of their total actual working hours(i.e., 60% of 7.5 hours) on calls with customer of days in monthis 30.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/>
          <p:cNvPicPr>
            <a:picLocks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240" y="3213735"/>
            <a:ext cx="10351135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/>
          <p:nvPr/>
        </p:nvSpPr>
        <p:spPr>
          <a:xfrm>
            <a:off x="951865" y="4454525"/>
            <a:ext cx="10243185" cy="1639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MICROSOFT EXCEL FILE:- </a:t>
            </a:r>
            <a:r>
              <a:rPr lang="en-US" altLang="en-US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https://docs.google.com/spreadsheets/d/1lIV2RpotYTDQZ8C1NH14jS7FvpLWJ08m/edit?usp=drive_link&amp;ouid=103974361659264463652&amp;rtpof=true&amp;sd=true</a:t>
            </a:r>
            <a:endParaRPr lang="en-US" altLang="en-US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VIDEO LINK:-</a:t>
            </a:r>
            <a:r>
              <a:rPr lang="en-US" altLang="en-US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 https://www.loom.com/share/792c1e6f88bf498787e8b15f3499eaae?sid=d3880972-6d14-4cbc-a57b-298c54aa8fd4</a:t>
            </a:r>
            <a:endParaRPr lang="en-US" altLang="en-US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51560"/>
          </a:xfrm>
        </p:spPr>
        <p:txBody>
          <a:bodyPr/>
          <a:p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1) Average Call Analysis:-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Determine the average duration of all incoming calls received by agents. this shood be calculated for each Time bucket.</a:t>
            </a:r>
            <a:b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Task:-</a:t>
            </a:r>
            <a:r>
              <a:rPr lang="en-US" sz="1800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is the average duration of calls for each time bucket?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0" y="1438275"/>
            <a:ext cx="10972800" cy="4689475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Process:-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First we use the Pivot table for this task placing the time bucket in rows, Call stasus in columns and Call sec. in values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We use Average for call sec. from the value field setting.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After that, we use the slicer of Call status. we only select the answered from call stasus.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Then we use the column chart for  Time bucket and average call status.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Result:- 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The Average duration of calls for each time bucket is 198.6 i.e. 199 sec.</a:t>
            </a:r>
            <a:endParaRPr lang="en-US" sz="18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From chart we can say that, time bucket 19-20 i.e. 7pm-8pm had the highest average call answered in seconds.(203.4).</a:t>
            </a:r>
            <a:endParaRPr lang="en-US" sz="18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Task-1"/>
          <p:cNvPicPr>
            <a:picLocks noChangeAspect="1"/>
          </p:cNvPicPr>
          <p:nvPr/>
        </p:nvPicPr>
        <p:blipFill>
          <a:blip r:embed="rId1"/>
          <a:srcRect l="2401" t="30749" r="6495" b="16009"/>
          <a:stretch>
            <a:fillRect/>
          </a:stretch>
        </p:blipFill>
        <p:spPr>
          <a:xfrm>
            <a:off x="409575" y="805180"/>
            <a:ext cx="11107420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52195"/>
          </a:xfrm>
        </p:spPr>
        <p:txBody>
          <a:bodyPr/>
          <a:p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2) Call Volume Analysis:-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Visualize the total number of calls received. This should be represented as a graph or chart showing the number of calls against time. time should be represented in bucket(e.g., 1-2,2-3..etc)</a:t>
            </a:r>
            <a:b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Task:-</a:t>
            </a:r>
            <a:r>
              <a:rPr lang="en-US" sz="1800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you create a chart or graph thet showes the number of calls received in each time bucket?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0" y="1409065"/>
            <a:ext cx="10972800" cy="4718685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Process:- 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First we use the Pivot table for this task placing the time bucket in rows, Call stasus in filter and Call sec. in values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use Count for call sec. from the value field setting.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After that, we use the slicer of Call status. we only select the answered and transfer from call stasus to get the total calls received.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Then we use the column chart for  Time bucket and Count of call status.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Result:-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The total count of calls received is 83585</a:t>
            </a:r>
            <a:endParaRPr lang="en-US" sz="18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From the we can say that, In time bucket 12-13 i.e. 12pm-1pm the highest count of calls received.(9579)</a:t>
            </a:r>
            <a:endParaRPr lang="en-US" sz="18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18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Task-2"/>
          <p:cNvPicPr>
            <a:picLocks noChangeAspect="1"/>
          </p:cNvPicPr>
          <p:nvPr/>
        </p:nvPicPr>
        <p:blipFill>
          <a:blip r:embed="rId1"/>
          <a:srcRect l="2760" t="28831" r="15146" b="17936"/>
          <a:stretch>
            <a:fillRect/>
          </a:stretch>
        </p:blipFill>
        <p:spPr>
          <a:xfrm>
            <a:off x="1091565" y="878840"/>
            <a:ext cx="10008870" cy="4835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462405"/>
          </a:xfrm>
        </p:spPr>
        <p:txBody>
          <a:bodyPr/>
          <a:p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3) Manpower Planning:-</a:t>
            </a:r>
            <a:r>
              <a:rPr 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current rate of abandoned calls is approximately 30%. Propose a plan for man power allocation during each time bucket (from 9am to 9pm) to reduce the abandonrate to 10%. in otherwords, you need to calculate the minimum number of agents require in each time bucket to ensure thet at least 90 out of 100 call are answered.</a:t>
            </a:r>
            <a:b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Task:-</a:t>
            </a:r>
            <a:r>
              <a:rPr 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is the minimum number of agents require in each time bucket to reduce the abandon rate to 10%?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754505"/>
            <a:ext cx="10972800" cy="4373245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Process:- 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First we use the Pivot chart placing call status in rows and count of customer phone number in values.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Then we also calculate the percentage by dividing the value by total and then convert it into percentage.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We get the total incoming calls and abandon calls by pivot table. then for no. of calls received we use sum function.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Working hours, Average call handeling and Occuoancy on average is allready given.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For calculating call handeling we use this formula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For minimun agents required we use 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For Head count required,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Lastly for calculating Man power in each time bucket we devide the heat count required by 12.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1"/>
              <p:cNvSpPr txBox="1"/>
              <p:nvPr/>
            </p:nvSpPr>
            <p:spPr>
              <a:xfrm>
                <a:off x="5919153" y="3930333"/>
                <a:ext cx="3369945" cy="43624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square" lIns="0" tIns="0" rIns="0" bIns="0" rtlCol="0" anchor="t">
                <a:no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𝑤𝑜𝑟𝑘𝑖𝑛𝑔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𝑡𝑖𝑚𝑒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𝑜𝑓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𝑎𝑔𝑒𝑛𝑡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𝑠𝑒𝑐𝑜𝑛𝑑𝑠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)(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𝑜𝑐𝑐𝑢𝑝𝑎𝑛𝑐𝑦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𝐴𝑣𝑒𝑟𝑎𝑔𝑒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𝐶𝑎𝑙𝑙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𝐻𝑎𝑛𝑑𝑙𝑖𝑛𝑔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𝑇𝑖𝑚𝑒</m:t>
                          </m:r>
                          <m:r>
                            <a:rPr lang="en-IN" sz="11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))</m:t>
                          </m:r>
                        </m:den>
                      </m:f>
                    </m:oMath>
                  </m:oMathPara>
                </a14:m>
                <a:endParaRPr lang="en-IN" sz="1100" b="0" i="1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153" y="3930333"/>
                <a:ext cx="3369945" cy="436245"/>
              </a:xfrm>
              <a:prstGeom prst="rect">
                <a:avLst/>
              </a:prstGeom>
              <a:blipFill rotWithShape="1">
                <a:blip r:embed="rId1"/>
                <a:stretch>
                  <a:fillRect l="-9" t="-73" r="9" b="73"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"/>
              <p:cNvSpPr txBox="1"/>
              <p:nvPr/>
            </p:nvSpPr>
            <p:spPr>
              <a:xfrm>
                <a:off x="4852670" y="4525645"/>
                <a:ext cx="2051685" cy="51625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square" lIns="0" tIns="0" rIns="0" bIns="0" rtlCol="0" anchor="t">
                <a:no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𝐼𝑛𝑐𝑜𝑚𝑖𝑛𝑔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𝐶𝑎𝑙𝑙𝑠</m:t>
                          </m:r>
                        </m:num>
                        <m:den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𝐶𝑎𝑙𝑙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𝐻𝑎𝑛𝑑𝑙𝑖𝑛𝑔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𝐶𝑎𝑝𝑎𝑐𝑖𝑡𝑦</m:t>
                          </m:r>
                        </m:den>
                      </m:f>
                    </m:oMath>
                  </m:oMathPara>
                </a14:m>
                <a:endParaRPr lang="en-IN" sz="1100"/>
              </a:p>
            </p:txBody>
          </p:sp>
        </mc:Choice>
        <mc:Fallback>
          <p:sp>
            <p:nvSpPr>
              <p:cNvPr id="7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670" y="4525645"/>
                <a:ext cx="2051685" cy="51625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3"/>
              <p:cNvSpPr txBox="1"/>
              <p:nvPr/>
            </p:nvSpPr>
            <p:spPr>
              <a:xfrm>
                <a:off x="3488055" y="5200650"/>
                <a:ext cx="1738630" cy="35052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none" lIns="0" tIns="0" rIns="0" bIns="0" rtlCol="0" anchor="t">
                <a:sp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𝑀𝑖𝑛𝑖𝑚𝑢𝑚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𝐴𝑔𝑒𝑛𝑡𝑠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𝑅𝑒𝑞𝑢𝑖𝑟𝑒𝑑</m:t>
                          </m:r>
                        </m:num>
                        <m:den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𝑆ℎ𝑟𝑖𝑛𝑘𝑎𝑔𝑒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𝑃𝑒𝑟𝑐𝑒𝑛𝑡𝑎𝑔𝑒</m:t>
                          </m:r>
                        </m:den>
                      </m:f>
                    </m:oMath>
                  </m:oMathPara>
                </a14:m>
                <a:endParaRPr lang="en-IN" sz="1100"/>
              </a:p>
            </p:txBody>
          </p:sp>
        </mc:Choice>
        <mc:Fallback>
          <p:sp>
            <p:nvSpPr>
              <p:cNvPr id="8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055" y="5200650"/>
                <a:ext cx="1738630" cy="3505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Task-3"/>
          <p:cNvPicPr>
            <a:picLocks noChangeAspect="1"/>
          </p:cNvPicPr>
          <p:nvPr/>
        </p:nvPicPr>
        <p:blipFill>
          <a:blip r:embed="rId1"/>
          <a:srcRect l="2521" t="31184" r="12266" b="13665"/>
          <a:stretch>
            <a:fillRect/>
          </a:stretch>
        </p:blipFill>
        <p:spPr>
          <a:xfrm>
            <a:off x="901700" y="864870"/>
            <a:ext cx="10389235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116840"/>
            <a:ext cx="10972800" cy="3147060"/>
          </a:xfrm>
        </p:spPr>
        <p:txBody>
          <a:bodyPr/>
          <a:p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4) Night Shift Manpower Planning:-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Customers also call ABC insurance company at nightbut dont get an answer because there are no agents available. this creates a poor customer experience. Assumethat for every 100 calls that between 9am-9pm. the distribution of these 30 calls is as follows:</a:t>
            </a:r>
            <a:b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Task:-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Propose a manpower plan for each time bucket throughout the day, keeping the maximun abandon rate at 10%. </a:t>
            </a:r>
            <a:br>
              <a:rPr 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Assumptions:- </a:t>
            </a:r>
            <a:r>
              <a:rPr 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agent works for 6 days a week; On average, each agent takes 4 unplanned leaves per month; An  agent’s total working hour are 9 hours, out of which 1.5 hours are spent on lunch and snacks in the office. On average, an agent spends 60% of their total actual working hours(i.e., 60% of 7.5 hours) on calls with customer of days in monthis 30.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0" y="3429635"/>
            <a:ext cx="10972800" cy="2698115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sz="1800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Process:-</a:t>
            </a:r>
            <a:endParaRPr lang="en-US" sz="1800" b="1"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In this task use the same formulas in previous task 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First we cal calculate the no. of calls and then the no. of Agents require for this job.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500"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Please refer the Excel sheet for detailed calculation.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Task-4"/>
          <p:cNvPicPr>
            <a:picLocks noChangeAspect="1"/>
          </p:cNvPicPr>
          <p:nvPr/>
        </p:nvPicPr>
        <p:blipFill>
          <a:blip r:embed="rId1"/>
          <a:srcRect l="5303" t="27969" r="20078" b="13172"/>
          <a:stretch>
            <a:fillRect/>
          </a:stretch>
        </p:blipFill>
        <p:spPr>
          <a:xfrm>
            <a:off x="849630" y="527050"/>
            <a:ext cx="10417175" cy="53778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-1084580" y="673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2647950"/>
            <a:ext cx="10515600" cy="1211580"/>
          </a:xfrm>
        </p:spPr>
        <p:txBody>
          <a:bodyPr/>
          <a:p>
            <a:pPr algn="ctr"/>
            <a:r>
              <a:rPr lang="en-US" b="1">
                <a:ln>
                  <a:solidFill>
                    <a:schemeClr val="tx1"/>
                  </a:solidFill>
                </a:ln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</a:rPr>
              <a:t>END</a:t>
            </a:r>
            <a:endParaRPr lang="en-US" b="1">
              <a:ln>
                <a:solidFill>
                  <a:schemeClr val="tx1"/>
                </a:solidFill>
              </a:ln>
              <a:solidFill>
                <a:srgbClr val="FF6C0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51865" y="527050"/>
            <a:ext cx="10243185" cy="1639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MICROSOFT EXCEL FILE:- </a:t>
            </a:r>
            <a:r>
              <a:rPr lang="en-US" altLang="en-US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https://docs.google.com/spreadsheets/d/1lIV2RpotYTDQZ8C1NH14jS7FvpLWJ08m/edit?usp=drive_link&amp;ouid=103974361659264463652&amp;rtpof=true&amp;sd=true</a:t>
            </a:r>
            <a:endParaRPr lang="en-US" altLang="en-US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solidFill>
                  <a:srgbClr val="FF6C0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VIDEO LINK:-</a:t>
            </a:r>
            <a:r>
              <a:rPr lang="en-US" altLang="en-US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https://www.loom.com/share/792c1e6f88bf498787e8b15f3499eaae?sid=d3880972-6d14-4cbc-a57b-298c54aa8fd4</a:t>
            </a:r>
            <a:endParaRPr lang="en-US" altLang="en-US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6471</Words>
  <Application>WPS Presentation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Wingdings</vt:lpstr>
      <vt:lpstr>Microsoft Tai Le</vt:lpstr>
      <vt:lpstr>Segoe Script</vt:lpstr>
      <vt:lpstr>Times New Roman</vt:lpstr>
      <vt:lpstr>Calibri</vt:lpstr>
      <vt:lpstr>Cambria Math</vt:lpstr>
      <vt:lpstr>Orange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Name:- Yash Rajendra Gaikwad Data Analytics Trainee Project-8. ABC Call Volume Trend Analysis. Software Used:- Microsoft Excel.</dc:title>
  <dc:creator>Yash Gaikwad</dc:creator>
  <cp:lastModifiedBy>91830</cp:lastModifiedBy>
  <cp:revision>20</cp:revision>
  <dcterms:created xsi:type="dcterms:W3CDTF">2024-12-25T08:00:04Z</dcterms:created>
  <dcterms:modified xsi:type="dcterms:W3CDTF">2024-12-25T11:30:43Z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F6FB003C111249ABBB3D91D598E71BBA_12</vt:lpwstr>
  </property>
  <property fmtid="{D5CDD505-2E9C-101B-9397-08002B2CF9AE}" pid="3" name="KSOProductBuildVer">
    <vt:lpwstr>1033-12.2.0.19307</vt:lpwstr>
  </property>
</Properties>
</file>